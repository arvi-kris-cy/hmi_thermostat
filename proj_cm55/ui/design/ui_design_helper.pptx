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  <p:sldMasterId id="2147483661" r:id="rId5"/>
  </p:sldMasterIdLst>
  <p:notesMasterIdLst>
    <p:notesMasterId r:id="rId12"/>
  </p:notesMasterIdLst>
  <p:sldIdLst>
    <p:sldId id="325" r:id="rId6"/>
    <p:sldId id="392" r:id="rId7"/>
    <p:sldId id="393" r:id="rId8"/>
    <p:sldId id="389" r:id="rId9"/>
    <p:sldId id="391" r:id="rId10"/>
    <p:sldId id="3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FE37EE0-B966-44A7-A1D1-1490A172C724}">
          <p14:sldIdLst>
            <p14:sldId id="325"/>
          </p14:sldIdLst>
        </p14:section>
        <p14:section name="Thermostat mockups" id="{EDED3ED7-758D-4023-9EF3-1F9BEEFCB6FE}">
          <p14:sldIdLst>
            <p14:sldId id="392"/>
            <p14:sldId id="393"/>
            <p14:sldId id="389"/>
            <p14:sldId id="39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20"/>
    <a:srgbClr val="101820"/>
    <a:srgbClr val="5C676C"/>
    <a:srgbClr val="41484F"/>
    <a:srgbClr val="2A313A"/>
    <a:srgbClr val="39404A"/>
    <a:srgbClr val="414852"/>
    <a:srgbClr val="656464"/>
    <a:srgbClr val="BFBFB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247" autoAdjust="0"/>
  </p:normalViewPr>
  <p:slideViewPr>
    <p:cSldViewPr snapToGrid="0">
      <p:cViewPr>
        <p:scale>
          <a:sx n="200" d="100"/>
          <a:sy n="200" d="100"/>
        </p:scale>
        <p:origin x="14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  <a:sym typeface="Arial"/>
              </a:rPr>
              <a:t>Copyright © Infineon Technologies AG 2020. All rights reserved.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  <a:sym typeface="Arial"/>
              </a:rPr>
              <a:t>restricted</a:t>
            </a:r>
            <a:endParaRPr kumimoji="0" lang="en-US" sz="1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  <a:sym typeface="Arial"/>
              </a:rPr>
              <a:t>2020-09-28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28285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28285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255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51954-B4F7-66DC-2D09-40E62D68E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FC62C-D07A-E8B2-74FA-A49789593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A927B-4646-688F-2F28-4331F283C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F43035C-85C4-5465-3762-12F229EC2A9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9D978-74EF-EA5A-9FAE-678BE95592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kumimoji="0" lang="en-US" sz="1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FCDE5E-6310-D202-E536-5605DBFD4D6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7B3A6-DDCE-5BCD-FC6B-2FA87B66E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28285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28285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493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0" Type="http://schemas.openxmlformats.org/officeDocument/2006/relationships/image" Target="../media/image1.jpg"/><Relationship Id="rId4" Type="http://schemas.openxmlformats.org/officeDocument/2006/relationships/tags" Target="../tags/tag4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3.jpg"/><Relationship Id="rId5" Type="http://schemas.openxmlformats.org/officeDocument/2006/relationships/tags" Target="../tags/tag2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6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5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4.jpeg"/><Relationship Id="rId5" Type="http://schemas.openxmlformats.org/officeDocument/2006/relationships/tags" Target="../tags/tag3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2.png"/><Relationship Id="rId5" Type="http://schemas.openxmlformats.org/officeDocument/2006/relationships/tags" Target="../tags/tag47.xml"/><Relationship Id="rId10" Type="http://schemas.openxmlformats.org/officeDocument/2006/relationships/image" Target="../media/image1.jpg"/><Relationship Id="rId4" Type="http://schemas.openxmlformats.org/officeDocument/2006/relationships/tags" Target="../tags/tag46.xml"/><Relationship Id="rId9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image" Target="../media/image7.svg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6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5.png"/><Relationship Id="rId5" Type="http://schemas.openxmlformats.org/officeDocument/2006/relationships/tags" Target="../tags/tag55.xml"/><Relationship Id="rId10" Type="http://schemas.openxmlformats.org/officeDocument/2006/relationships/image" Target="../media/image8.jpeg"/><Relationship Id="rId4" Type="http://schemas.openxmlformats.org/officeDocument/2006/relationships/tags" Target="../tags/tag54.xml"/><Relationship Id="rId9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2.png"/><Relationship Id="rId5" Type="http://schemas.openxmlformats.org/officeDocument/2006/relationships/tags" Target="../tags/tag6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9.png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5" Type="http://schemas.openxmlformats.org/officeDocument/2006/relationships/tags" Target="../tags/tag175.xml"/><Relationship Id="rId10" Type="http://schemas.openxmlformats.org/officeDocument/2006/relationships/tags" Target="../tags/tag180.xml"/><Relationship Id="rId4" Type="http://schemas.openxmlformats.org/officeDocument/2006/relationships/tags" Target="../tags/tag174.xml"/><Relationship Id="rId9" Type="http://schemas.openxmlformats.org/officeDocument/2006/relationships/tags" Target="../tags/tag17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5.xml"/><Relationship Id="rId5" Type="http://schemas.openxmlformats.org/officeDocument/2006/relationships/tags" Target="../tags/tag199.xml"/><Relationship Id="rId10" Type="http://schemas.openxmlformats.org/officeDocument/2006/relationships/tags" Target="../tags/tag204.xml"/><Relationship Id="rId4" Type="http://schemas.openxmlformats.org/officeDocument/2006/relationships/tags" Target="../tags/tag198.xml"/><Relationship Id="rId9" Type="http://schemas.openxmlformats.org/officeDocument/2006/relationships/tags" Target="../tags/tag20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11.xml"/><Relationship Id="rId7" Type="http://schemas.openxmlformats.org/officeDocument/2006/relationships/image" Target="../media/image2.png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3.xml"/><Relationship Id="rId4" Type="http://schemas.openxmlformats.org/officeDocument/2006/relationships/tags" Target="../tags/tag2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218294" y="4002910"/>
            <a:ext cx="1545538" cy="83709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91449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3903869" cy="51435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356456" y="2842576"/>
            <a:ext cx="4320000" cy="459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35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56456" y="1317903"/>
            <a:ext cx="4320000" cy="1254674"/>
          </a:xfrm>
        </p:spPr>
        <p:txBody>
          <a:bodyPr bIns="0" anchor="b">
            <a:normAutofit/>
          </a:bodyPr>
          <a:lstStyle>
            <a:lvl1pPr algn="l">
              <a:defRPr sz="27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356456" y="4876200"/>
            <a:ext cx="1026301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356456" y="4876200"/>
            <a:ext cx="1026000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6391" y="4876200"/>
            <a:ext cx="2430065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598424" y="4875929"/>
            <a:ext cx="43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67" y="4089967"/>
            <a:ext cx="1372690" cy="6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8996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898847" y="4867275"/>
            <a:ext cx="1296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275"/>
            <a:ext cx="72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{{Company.ShortName}}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275"/>
            <a:ext cx="270272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275"/>
            <a:ext cx="2322257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{{Company.LongName}}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275"/>
            <a:ext cx="45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{{FooterInformation.FooterDate}}</a:t>
            </a:r>
            <a:endParaRPr lang="en-US" sz="6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251100" y="951311"/>
            <a:ext cx="8640000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40565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218294" y="4002910"/>
            <a:ext cx="1545538" cy="83709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91449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9143999" cy="2807998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68000" y="4231463"/>
            <a:ext cx="6210000" cy="459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35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468000" y="3122289"/>
            <a:ext cx="6210000" cy="839176"/>
          </a:xfrm>
        </p:spPr>
        <p:txBody>
          <a:bodyPr bIns="0" anchor="b">
            <a:normAutofit/>
          </a:bodyPr>
          <a:lstStyle>
            <a:lvl1pPr algn="l">
              <a:defRPr sz="27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058850" y="4875236"/>
            <a:ext cx="1026301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059000" y="4875236"/>
            <a:ext cx="1026000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68001" y="4875236"/>
            <a:ext cx="2430065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3262533" y="4875929"/>
            <a:ext cx="43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67" y="4089967"/>
            <a:ext cx="1372690" cy="6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0650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434318" y="177475"/>
            <a:ext cx="1329513" cy="72008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91449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68000" y="4231463"/>
            <a:ext cx="6210000" cy="459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35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468000" y="3122289"/>
            <a:ext cx="6210000" cy="839176"/>
          </a:xfrm>
        </p:spPr>
        <p:txBody>
          <a:bodyPr bIns="0" anchor="b">
            <a:normAutofit/>
          </a:bodyPr>
          <a:lstStyle>
            <a:lvl1pPr algn="l">
              <a:defRPr sz="27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9143999" cy="294918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 defTabSz="432000" rtl="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058850" y="4875236"/>
            <a:ext cx="1026301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059000" y="4875236"/>
            <a:ext cx="1026000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68001" y="4875236"/>
            <a:ext cx="2430065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3262533" y="4875929"/>
            <a:ext cx="43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A logo of a company&#10;&#10;Description automatically generated">
            <a:extLst>
              <a:ext uri="{FF2B5EF4-FFF2-40B4-BE49-F238E27FC236}">
                <a16:creationId xmlns:a16="http://schemas.microsoft.com/office/drawing/2014/main" id="{D3AB9BDB-6716-DC0D-AD30-113C999DA9C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992181"/>
            <a:ext cx="1295688" cy="764887"/>
          </a:xfrm>
          <a:prstGeom prst="rect">
            <a:avLst/>
          </a:prstGeom>
        </p:spPr>
      </p:pic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495632" y="264954"/>
            <a:ext cx="1180825" cy="51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696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218294" y="4002910"/>
            <a:ext cx="1545538" cy="83709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91449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3903869" cy="51435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356456" y="2842576"/>
            <a:ext cx="4320000" cy="459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35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56456" y="1317903"/>
            <a:ext cx="4320000" cy="1254674"/>
          </a:xfrm>
        </p:spPr>
        <p:txBody>
          <a:bodyPr bIns="0" anchor="b">
            <a:normAutofit/>
          </a:bodyPr>
          <a:lstStyle>
            <a:lvl1pPr algn="l">
              <a:defRPr sz="27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356456" y="4876200"/>
            <a:ext cx="1026301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356456" y="4876200"/>
            <a:ext cx="1026000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6391" y="4876200"/>
            <a:ext cx="2430065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598424" y="4875929"/>
            <a:ext cx="43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67" y="4089967"/>
            <a:ext cx="1372690" cy="6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4274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197514" y="177475"/>
            <a:ext cx="1329513" cy="72008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91449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904904" cy="51435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356456" y="2842576"/>
            <a:ext cx="4320000" cy="459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35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56456" y="1317903"/>
            <a:ext cx="4320000" cy="1254674"/>
          </a:xfrm>
        </p:spPr>
        <p:txBody>
          <a:bodyPr bIns="0" anchor="b">
            <a:normAutofit/>
          </a:bodyPr>
          <a:lstStyle>
            <a:lvl1pPr algn="l">
              <a:defRPr sz="27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356456" y="4876200"/>
            <a:ext cx="1026301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356456" y="4876200"/>
            <a:ext cx="1026000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6391" y="4876200"/>
            <a:ext cx="2430065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598424" y="4875929"/>
            <a:ext cx="43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1" name="Picture 20" descr="A logo of a company&#10;&#10;Description automatically generated">
            <a:extLst>
              <a:ext uri="{FF2B5EF4-FFF2-40B4-BE49-F238E27FC236}">
                <a16:creationId xmlns:a16="http://schemas.microsoft.com/office/drawing/2014/main" id="{A243AC04-C54C-094D-D758-581BFC35258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992181"/>
            <a:ext cx="1295688" cy="764887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251100" y="264954"/>
            <a:ext cx="1180825" cy="51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639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218294" y="4002910"/>
            <a:ext cx="1545538" cy="83709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91449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rtl="0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9143999" cy="294918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 defTabSz="432000" rtl="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68000" y="4230900"/>
            <a:ext cx="6210000" cy="459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35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8001" y="3121199"/>
            <a:ext cx="6210000" cy="839700"/>
          </a:xfrm>
        </p:spPr>
        <p:txBody>
          <a:bodyPr bIns="0" anchor="b">
            <a:normAutofit/>
          </a:bodyPr>
          <a:lstStyle>
            <a:lvl1pPr algn="l">
              <a:defRPr sz="27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058850" y="4876200"/>
            <a:ext cx="1026301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059000" y="4876200"/>
            <a:ext cx="1026000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68001" y="4876200"/>
            <a:ext cx="2430065" cy="2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3262533" y="4875929"/>
            <a:ext cx="432000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67" y="4089967"/>
            <a:ext cx="1372690" cy="6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50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006"/>
            <a:ext cx="1296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006"/>
            <a:ext cx="72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006"/>
            <a:ext cx="270272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006"/>
            <a:ext cx="2322257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006"/>
            <a:ext cx="45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  <a:endParaRPr lang="en-US" sz="6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09812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898847" y="4867275"/>
            <a:ext cx="1296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275"/>
            <a:ext cx="72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275"/>
            <a:ext cx="270272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275"/>
            <a:ext cx="2322257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275"/>
            <a:ext cx="45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  <a:endParaRPr lang="en-US" sz="6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251100" y="951311"/>
            <a:ext cx="8640000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0216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275"/>
            <a:ext cx="1296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275"/>
            <a:ext cx="72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6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275"/>
            <a:ext cx="270272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275"/>
            <a:ext cx="2322257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6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275"/>
            <a:ext cx="45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  <a:endParaRPr lang="en-US" sz="6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251100" y="951311"/>
            <a:ext cx="4266000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4625579" y="951311"/>
            <a:ext cx="4266902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2488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607500"/>
            <a:ext cx="9143999" cy="453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905347" y="-925504"/>
            <a:ext cx="5158978" cy="6997848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05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1601100"/>
            <a:ext cx="6103144" cy="512527"/>
          </a:xfrm>
        </p:spPr>
        <p:txBody>
          <a:bodyPr bIns="0"/>
          <a:lstStyle>
            <a:lvl1pPr>
              <a:defRPr sz="27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22507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607500"/>
            <a:ext cx="9143999" cy="453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5149694" y="1149195"/>
            <a:ext cx="5143499" cy="2845112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sz="1050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1601100"/>
            <a:ext cx="6103144" cy="512527"/>
          </a:xfrm>
        </p:spPr>
        <p:txBody>
          <a:bodyPr bIns="0"/>
          <a:lstStyle>
            <a:lvl1pPr>
              <a:defRPr sz="27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282" y="145267"/>
            <a:ext cx="905585" cy="39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205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006"/>
            <a:ext cx="1296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006"/>
            <a:ext cx="72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006"/>
            <a:ext cx="270272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rtl="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006"/>
            <a:ext cx="2322257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006"/>
            <a:ext cx="728891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rtl="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28642" y="4867006"/>
            <a:ext cx="729938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006"/>
            <a:ext cx="45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251100" y="951309"/>
            <a:ext cx="4266000" cy="1755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4625099" y="951309"/>
            <a:ext cx="4266000" cy="1755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251100" y="2895601"/>
            <a:ext cx="4266000" cy="18907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4625099" y="2895601"/>
            <a:ext cx="4266000" cy="18907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936410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006"/>
            <a:ext cx="1296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006"/>
            <a:ext cx="72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006"/>
            <a:ext cx="270272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006"/>
            <a:ext cx="2322257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28642" y="4867006"/>
            <a:ext cx="728891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28642" y="4867006"/>
            <a:ext cx="729938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006"/>
            <a:ext cx="45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  <a:endParaRPr lang="en-US" sz="6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251100" y="951309"/>
            <a:ext cx="8640000" cy="1755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251100" y="2895601"/>
            <a:ext cx="4266000" cy="18907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4625100" y="2895601"/>
            <a:ext cx="4266000" cy="18907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18670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006"/>
            <a:ext cx="1296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006"/>
            <a:ext cx="72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006"/>
            <a:ext cx="270272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006"/>
            <a:ext cx="2322257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28642" y="4867006"/>
            <a:ext cx="728891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28642" y="4867006"/>
            <a:ext cx="729938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006"/>
            <a:ext cx="45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250825" y="951309"/>
            <a:ext cx="8640960" cy="945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251100" y="2085685"/>
            <a:ext cx="4266000" cy="1485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4625578" y="2085685"/>
            <a:ext cx="4266000" cy="1485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250825" y="3813890"/>
            <a:ext cx="8640960" cy="972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8061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275"/>
            <a:ext cx="1296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275"/>
            <a:ext cx="72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275"/>
            <a:ext cx="270272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275"/>
            <a:ext cx="2322257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275"/>
            <a:ext cx="45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251100" y="951311"/>
            <a:ext cx="2808288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3196799" y="951311"/>
            <a:ext cx="2754000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6084888" y="951311"/>
            <a:ext cx="2808312" cy="383500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01488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006"/>
            <a:ext cx="1296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006"/>
            <a:ext cx="72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006"/>
            <a:ext cx="270272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006"/>
            <a:ext cx="2322257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28642" y="4867006"/>
            <a:ext cx="728891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006"/>
            <a:ext cx="729938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006"/>
            <a:ext cx="45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251100" y="951311"/>
            <a:ext cx="8640960" cy="1026319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251100" y="2085975"/>
            <a:ext cx="2808000" cy="2700338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3194447" y="2085975"/>
            <a:ext cx="2755106" cy="2700338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6084890" y="2085975"/>
            <a:ext cx="2808287" cy="2700338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32246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006"/>
            <a:ext cx="1296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006"/>
            <a:ext cx="72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006"/>
            <a:ext cx="270272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006"/>
            <a:ext cx="2322257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006"/>
            <a:ext cx="728891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006"/>
            <a:ext cx="729938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006"/>
            <a:ext cx="459000" cy="27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51099" y="951310"/>
            <a:ext cx="2106000" cy="3835004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493169" y="951310"/>
            <a:ext cx="1997869" cy="3835004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652963" y="951310"/>
            <a:ext cx="1997869" cy="3835004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786563" y="951310"/>
            <a:ext cx="2105695" cy="3835004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15870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275"/>
            <a:ext cx="1296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275"/>
            <a:ext cx="72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275"/>
            <a:ext cx="270272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275"/>
            <a:ext cx="2322257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275"/>
            <a:ext cx="45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  <a:endParaRPr lang="en-US" sz="6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51100" y="951311"/>
            <a:ext cx="8640960" cy="1026319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1100" y="2085975"/>
            <a:ext cx="2106000" cy="2700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493169" y="2085975"/>
            <a:ext cx="1997869" cy="2700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2963" y="2085975"/>
            <a:ext cx="1997869" cy="2700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786563" y="2085975"/>
            <a:ext cx="2105695" cy="2700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98463" y="1"/>
            <a:ext cx="1545538" cy="62753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29086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1898847" y="4867275"/>
            <a:ext cx="1296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sz="600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8068416" y="3720253"/>
            <a:ext cx="1944000" cy="188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525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083360" y="4867275"/>
            <a:ext cx="72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570892" y="4867275"/>
            <a:ext cx="270272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6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410872" y="4867275"/>
            <a:ext cx="2322257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928642" y="4867275"/>
            <a:ext cx="728891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28642" y="4867275"/>
            <a:ext cx="729938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251222" y="4867275"/>
            <a:ext cx="459000" cy="27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685800" eaLnBrk="0" fontAlgn="auto" latinLnBrk="0" hangingPunct="0">
              <a:spcBef>
                <a:spcPts val="0"/>
              </a:spcBef>
              <a:spcAft>
                <a:spcPts val="225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6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2024-10-21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8998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001604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195737" y="1440575"/>
            <a:ext cx="4752527" cy="2316357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8874822" y="87474"/>
            <a:ext cx="162018" cy="162018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eaLnBrk="0" hangingPunct="0"/>
            <a:endParaRPr lang="en-US" sz="12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hangingPunct="0">
              <a:lnSpc>
                <a:spcPct val="120000"/>
              </a:lnSpc>
            </a:pPr>
            <a:endParaRPr lang="de-DE" sz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834" y="2066989"/>
            <a:ext cx="2308361" cy="100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3606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tags" Target="../tags/tag24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tags" Target="../tags/tag23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tags" Target="../tags/tag2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tags" Target="../tags/tag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82" r:id="rId9"/>
    <p:sldLayoutId id="214748368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9144000" y="51435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9144000" y="51435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9144000" y="51435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251520" y="141540"/>
            <a:ext cx="7209801" cy="54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250826" y="951311"/>
            <a:ext cx="8640763" cy="38350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lvl="0" algn="ctr" eaLnBrk="0" hangingPunct="0"/>
            <a:endParaRPr lang="en-US" sz="12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8603552" y="4867006"/>
            <a:ext cx="288036" cy="27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432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6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432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6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282" y="145267"/>
            <a:ext cx="905585" cy="39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3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hf sldNum="0" hdr="0"/>
  <p:txStyles>
    <p:titleStyle>
      <a:lvl1pPr algn="l" defTabSz="432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18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6pPr>
      <a:lvl7pPr marL="914378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9pPr>
    </p:titleStyle>
    <p:bodyStyle>
      <a:lvl1pPr marL="189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350" baseline="0">
          <a:solidFill>
            <a:schemeClr val="tx1"/>
          </a:solidFill>
          <a:latin typeface="+mn-lt"/>
          <a:ea typeface="+mn-ea"/>
          <a:cs typeface="+mn-cs"/>
        </a:defRPr>
      </a:lvl1pPr>
      <a:lvl2pPr marL="378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200">
          <a:solidFill>
            <a:schemeClr val="tx1"/>
          </a:solidFill>
          <a:latin typeface="+mn-lt"/>
          <a:cs typeface="+mn-cs"/>
        </a:defRPr>
      </a:lvl2pPr>
      <a:lvl3pPr marL="567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050" baseline="0">
          <a:solidFill>
            <a:schemeClr val="tx1"/>
          </a:solidFill>
          <a:latin typeface="+mn-lt"/>
          <a:cs typeface="+mn-cs"/>
        </a:defRPr>
      </a:lvl3pPr>
      <a:lvl4pPr marL="756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050" baseline="0">
          <a:solidFill>
            <a:schemeClr val="tx1"/>
          </a:solidFill>
          <a:latin typeface="+mn-lt"/>
          <a:cs typeface="+mn-cs"/>
        </a:defRPr>
      </a:lvl4pPr>
      <a:lvl5pPr marL="945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050" baseline="0">
          <a:solidFill>
            <a:schemeClr val="tx1"/>
          </a:solidFill>
          <a:latin typeface="+mn-lt"/>
          <a:cs typeface="+mn-cs"/>
        </a:defRPr>
      </a:lvl5pPr>
      <a:lvl6pPr marL="945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050" baseline="0">
          <a:solidFill>
            <a:schemeClr val="tx1"/>
          </a:solidFill>
          <a:latin typeface="+mn-lt"/>
          <a:cs typeface="+mn-cs"/>
        </a:defRPr>
      </a:lvl6pPr>
      <a:lvl7pPr marL="945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050">
          <a:solidFill>
            <a:schemeClr val="tx1"/>
          </a:solidFill>
          <a:latin typeface="+mn-lt"/>
          <a:cs typeface="+mn-cs"/>
        </a:defRPr>
      </a:lvl7pPr>
      <a:lvl8pPr marL="945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050">
          <a:solidFill>
            <a:schemeClr val="tx1"/>
          </a:solidFill>
          <a:latin typeface="+mn-lt"/>
          <a:cs typeface="+mn-cs"/>
        </a:defRPr>
      </a:lvl8pPr>
      <a:lvl9pPr marL="945000" indent="-189000" algn="l" defTabSz="432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05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11" Type="http://schemas.openxmlformats.org/officeDocument/2006/relationships/image" Target="../media/image18.svg"/><Relationship Id="rId5" Type="http://schemas.openxmlformats.org/officeDocument/2006/relationships/image" Target="../media/image23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0.svg"/><Relationship Id="rId3" Type="http://schemas.openxmlformats.org/officeDocument/2006/relationships/image" Target="../media/image25.pn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B1B27D0-F339-1964-0699-A721AB08A3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PSOC Edge </a:t>
            </a:r>
            <a:br>
              <a:rPr lang="en" dirty="0"/>
            </a:br>
            <a:r>
              <a:rPr lang="en" dirty="0"/>
              <a:t>Smart HMI kit</a:t>
            </a:r>
            <a:br>
              <a:rPr lang="en" dirty="0"/>
            </a:br>
            <a:r>
              <a:rPr lang="en" dirty="0">
                <a:solidFill>
                  <a:srgbClr val="6CB4AD"/>
                </a:solidFill>
              </a:rPr>
              <a:t> UI mockups</a:t>
            </a:r>
            <a:endParaRPr dirty="0">
              <a:solidFill>
                <a:srgbClr val="6CB4AD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BF4183E-4B62-F8A5-A242-4A2F08593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F5485EF-7D0D-499E-8FC9-67B810D8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72" y="902754"/>
            <a:ext cx="2929469" cy="2929469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638CCAF-1505-4970-8060-EA83C0549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772" y="899015"/>
            <a:ext cx="2929469" cy="2929469"/>
          </a:xfrm>
          <a:prstGeom prst="rect">
            <a:avLst/>
          </a:prstGeom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0A84F84-A86F-4A5D-9089-454D1EF6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 control arc design</a:t>
            </a:r>
            <a:br>
              <a:rPr lang="en-US" dirty="0"/>
            </a:br>
            <a:r>
              <a:rPr lang="en-US" dirty="0"/>
              <a:t>merged into </a:t>
            </a:r>
            <a:r>
              <a:rPr lang="en-US"/>
              <a:t>background image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5EC6-B4F2-43EB-A549-C445226BC6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14843-5D75-4F78-9E9D-92D9A76FAA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F0E027-DDA0-4FC0-9559-401AD7DDA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648" y="1436155"/>
            <a:ext cx="3112182" cy="2929469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A71A88BB-A9DC-4BBB-818C-1A02CF0B9123}"/>
              </a:ext>
            </a:extLst>
          </p:cNvPr>
          <p:cNvSpPr/>
          <p:nvPr/>
        </p:nvSpPr>
        <p:spPr bwMode="auto">
          <a:xfrm rot="5400000">
            <a:off x="4624746" y="2574458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rgbClr val="086259">
              <a:alpha val="34902"/>
            </a:srgb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43C52-326B-48AF-AB09-936079413910}"/>
              </a:ext>
            </a:extLst>
          </p:cNvPr>
          <p:cNvSpPr/>
          <p:nvPr/>
        </p:nvSpPr>
        <p:spPr bwMode="auto">
          <a:xfrm>
            <a:off x="4751254" y="1313917"/>
            <a:ext cx="317971" cy="3213634"/>
          </a:xfrm>
          <a:prstGeom prst="rect">
            <a:avLst/>
          </a:prstGeom>
          <a:solidFill>
            <a:srgbClr val="BFBFBF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B5F144-2757-4BC6-AB52-EEB8F6F052E5}"/>
              </a:ext>
            </a:extLst>
          </p:cNvPr>
          <p:cNvSpPr/>
          <p:nvPr/>
        </p:nvSpPr>
        <p:spPr bwMode="auto">
          <a:xfrm>
            <a:off x="8057259" y="1313917"/>
            <a:ext cx="317971" cy="3213634"/>
          </a:xfrm>
          <a:prstGeom prst="rect">
            <a:avLst/>
          </a:prstGeom>
          <a:solidFill>
            <a:srgbClr val="BFBFBF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0B02BF64-28D0-4A15-97A1-DFB49925E9C3}"/>
              </a:ext>
            </a:extLst>
          </p:cNvPr>
          <p:cNvSpPr/>
          <p:nvPr/>
        </p:nvSpPr>
        <p:spPr bwMode="auto">
          <a:xfrm rot="5400000">
            <a:off x="66831" y="2041059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rgbClr val="086259">
              <a:alpha val="34902"/>
            </a:srgb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943FD4F0-2A7A-469F-BDB6-4722D9314C10}"/>
              </a:ext>
            </a:extLst>
          </p:cNvPr>
          <p:cNvSpPr/>
          <p:nvPr/>
        </p:nvSpPr>
        <p:spPr bwMode="auto">
          <a:xfrm rot="16200000" flipH="1">
            <a:off x="2326863" y="2041850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rgbClr val="086259">
              <a:alpha val="34902"/>
            </a:srgb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3BF68E85-16FA-4222-B39E-17B6D4CE36A6}"/>
              </a:ext>
            </a:extLst>
          </p:cNvPr>
          <p:cNvSpPr/>
          <p:nvPr/>
        </p:nvSpPr>
        <p:spPr bwMode="auto">
          <a:xfrm>
            <a:off x="1222088" y="1700978"/>
            <a:ext cx="1324717" cy="1324717"/>
          </a:xfrm>
          <a:prstGeom prst="blockArc">
            <a:avLst>
              <a:gd name="adj1" fmla="val 10800000"/>
              <a:gd name="adj2" fmla="val 10799996"/>
              <a:gd name="adj3" fmla="val 18018"/>
            </a:avLst>
          </a:prstGeom>
          <a:gradFill>
            <a:gsLst>
              <a:gs pos="0">
                <a:srgbClr val="656464"/>
              </a:gs>
              <a:gs pos="74000">
                <a:srgbClr val="414852"/>
              </a:gs>
              <a:gs pos="100000">
                <a:srgbClr val="39404A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622311-4BC5-40AF-8223-CC2F9D32AAF9}"/>
              </a:ext>
            </a:extLst>
          </p:cNvPr>
          <p:cNvSpPr/>
          <p:nvPr/>
        </p:nvSpPr>
        <p:spPr bwMode="auto">
          <a:xfrm>
            <a:off x="1460126" y="1940874"/>
            <a:ext cx="844924" cy="844924"/>
          </a:xfrm>
          <a:prstGeom prst="ellipse">
            <a:avLst/>
          </a:prstGeom>
          <a:gradFill>
            <a:gsLst>
              <a:gs pos="0">
                <a:schemeClr val="tx1">
                  <a:lumMod val="90000"/>
                  <a:lumOff val="10000"/>
                  <a:alpha val="80000"/>
                </a:schemeClr>
              </a:gs>
              <a:gs pos="74000">
                <a:srgbClr val="101820">
                  <a:alpha val="80000"/>
                </a:srgbClr>
              </a:gs>
              <a:gs pos="100000">
                <a:srgbClr val="181820">
                  <a:alpha val="80000"/>
                </a:srgbClr>
              </a:gs>
            </a:gsLst>
            <a:lin ang="5400000" scaled="1"/>
          </a:gradFill>
          <a:ln w="9525">
            <a:solidFill>
              <a:srgbClr val="5C676C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EE0C51-2C2C-4B1B-9B88-DFA9EB756982}"/>
              </a:ext>
            </a:extLst>
          </p:cNvPr>
          <p:cNvGrpSpPr/>
          <p:nvPr/>
        </p:nvGrpSpPr>
        <p:grpSpPr>
          <a:xfrm>
            <a:off x="1506203" y="2055869"/>
            <a:ext cx="833235" cy="648530"/>
            <a:chOff x="1506203" y="2055869"/>
            <a:chExt cx="833235" cy="6485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1FB621-9661-4603-AF66-8A3B2C696C18}"/>
                </a:ext>
              </a:extLst>
            </p:cNvPr>
            <p:cNvSpPr/>
            <p:nvPr/>
          </p:nvSpPr>
          <p:spPr>
            <a:xfrm>
              <a:off x="1506203" y="2058068"/>
              <a:ext cx="70403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5845BD0-6237-44CA-A2E2-439DE06DB547}"/>
                </a:ext>
              </a:extLst>
            </p:cNvPr>
            <p:cNvSpPr/>
            <p:nvPr/>
          </p:nvSpPr>
          <p:spPr>
            <a:xfrm>
              <a:off x="2010502" y="2055869"/>
              <a:ext cx="32893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800" dirty="0">
                  <a:solidFill>
                    <a:schemeClr val="bg1">
                      <a:lumMod val="95000"/>
                    </a:schemeClr>
                  </a:solidFill>
                  <a:latin typeface="Montserrat"/>
                </a:rPr>
                <a:t>°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Montserrat"/>
                <a:ea typeface="Roboto" panose="02000000000000000000" pitchFamily="2" charset="0"/>
              </a:endParaRPr>
            </a:p>
          </p:txBody>
        </p:sp>
      </p:grpSp>
      <p:sp>
        <p:nvSpPr>
          <p:cNvPr id="43" name="Double Bracket 42">
            <a:extLst>
              <a:ext uri="{FF2B5EF4-FFF2-40B4-BE49-F238E27FC236}">
                <a16:creationId xmlns:a16="http://schemas.microsoft.com/office/drawing/2014/main" id="{2A10AC54-D0A5-42CC-9138-CE6B5577454A}"/>
              </a:ext>
            </a:extLst>
          </p:cNvPr>
          <p:cNvSpPr/>
          <p:nvPr/>
        </p:nvSpPr>
        <p:spPr>
          <a:xfrm>
            <a:off x="5567070" y="3942005"/>
            <a:ext cx="216496" cy="219755"/>
          </a:xfrm>
          <a:prstGeom prst="bracketPair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B08710-C7D0-45D4-BB0C-784725EF1FF4}"/>
              </a:ext>
            </a:extLst>
          </p:cNvPr>
          <p:cNvGrpSpPr/>
          <p:nvPr/>
        </p:nvGrpSpPr>
        <p:grpSpPr>
          <a:xfrm>
            <a:off x="4966189" y="2403842"/>
            <a:ext cx="3060836" cy="1920612"/>
            <a:chOff x="4966189" y="2403842"/>
            <a:chExt cx="3060836" cy="1920612"/>
          </a:xfrm>
        </p:grpSpPr>
        <p:pic>
          <p:nvPicPr>
            <p:cNvPr id="32" name="Picture 31" descr="A black background with a circular design&#10;&#10;Description automatically generated">
              <a:extLst>
                <a:ext uri="{FF2B5EF4-FFF2-40B4-BE49-F238E27FC236}">
                  <a16:creationId xmlns:a16="http://schemas.microsoft.com/office/drawing/2014/main" id="{88A84BA0-9487-49AF-9BF5-2E61A6CCF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066" y="2953793"/>
              <a:ext cx="386261" cy="386261"/>
            </a:xfrm>
            <a:prstGeom prst="rect">
              <a:avLst/>
            </a:prstGeom>
          </p:spPr>
        </p:pic>
        <p:pic>
          <p:nvPicPr>
            <p:cNvPr id="33" name="Picture 32" descr="A white line drawing of a leaf&#10;&#10;Description automatically generated">
              <a:extLst>
                <a:ext uri="{FF2B5EF4-FFF2-40B4-BE49-F238E27FC236}">
                  <a16:creationId xmlns:a16="http://schemas.microsoft.com/office/drawing/2014/main" id="{6EC79E44-29E5-4822-BBB3-32D09B797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5640" y="2421331"/>
              <a:ext cx="310753" cy="310753"/>
            </a:xfrm>
            <a:prstGeom prst="rect">
              <a:avLst/>
            </a:prstGeom>
          </p:spPr>
        </p:pic>
        <p:pic>
          <p:nvPicPr>
            <p:cNvPr id="34" name="Picture 33" descr="A wifi symbol on a black background&#10;&#10;Description automatically generated">
              <a:extLst>
                <a:ext uri="{FF2B5EF4-FFF2-40B4-BE49-F238E27FC236}">
                  <a16:creationId xmlns:a16="http://schemas.microsoft.com/office/drawing/2014/main" id="{C58D05A8-F9BB-4834-BBA1-6C801BE70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779" y="2976250"/>
              <a:ext cx="361847" cy="361847"/>
            </a:xfrm>
            <a:prstGeom prst="rect">
              <a:avLst/>
            </a:prstGeom>
          </p:spPr>
        </p:pic>
        <p:pic>
          <p:nvPicPr>
            <p:cNvPr id="35" name="Picture 34" descr="A white line drawing of gears&#10;&#10;Description automatically generated">
              <a:extLst>
                <a:ext uri="{FF2B5EF4-FFF2-40B4-BE49-F238E27FC236}">
                  <a16:creationId xmlns:a16="http://schemas.microsoft.com/office/drawing/2014/main" id="{0987AAD2-0C2E-49F8-9223-A32E7C8DC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1806" y="2403842"/>
              <a:ext cx="348820" cy="348820"/>
            </a:xfrm>
            <a:prstGeom prst="rect">
              <a:avLst/>
            </a:prstGeom>
          </p:spPr>
        </p:pic>
        <p:pic>
          <p:nvPicPr>
            <p:cNvPr id="36" name="Picture 33">
              <a:extLst>
                <a:ext uri="{FF2B5EF4-FFF2-40B4-BE49-F238E27FC236}">
                  <a16:creationId xmlns:a16="http://schemas.microsoft.com/office/drawing/2014/main" id="{1E757E61-D2DE-43E7-B26A-AF8EF099F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333356" y="3910651"/>
              <a:ext cx="255929" cy="255929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69F124-BD34-4D02-B20F-8168801111E2}"/>
                </a:ext>
              </a:extLst>
            </p:cNvPr>
            <p:cNvSpPr txBox="1"/>
            <p:nvPr/>
          </p:nvSpPr>
          <p:spPr bwMode="auto">
            <a:xfrm>
              <a:off x="5010126" y="2726929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SETTINGS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4150D0-6B09-4E9E-AC69-AB68C76DD276}"/>
                </a:ext>
              </a:extLst>
            </p:cNvPr>
            <p:cNvSpPr txBox="1"/>
            <p:nvPr/>
          </p:nvSpPr>
          <p:spPr bwMode="auto">
            <a:xfrm>
              <a:off x="5336528" y="4188263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PRESENCE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5A3A2EE-EFC6-44CB-9621-150E71390874}"/>
                </a:ext>
              </a:extLst>
            </p:cNvPr>
            <p:cNvSpPr txBox="1"/>
            <p:nvPr/>
          </p:nvSpPr>
          <p:spPr bwMode="auto">
            <a:xfrm>
              <a:off x="7335543" y="2704326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MODE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A8C18F-A207-45EF-BF63-8F52A50FC6DB}"/>
                </a:ext>
              </a:extLst>
            </p:cNvPr>
            <p:cNvSpPr txBox="1"/>
            <p:nvPr/>
          </p:nvSpPr>
          <p:spPr bwMode="auto">
            <a:xfrm>
              <a:off x="7094229" y="4185986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COMMAND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475207E-225E-4455-982F-3D72FFC66412}"/>
                </a:ext>
              </a:extLst>
            </p:cNvPr>
            <p:cNvSpPr txBox="1"/>
            <p:nvPr/>
          </p:nvSpPr>
          <p:spPr bwMode="auto">
            <a:xfrm>
              <a:off x="4966189" y="3302460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CONNECT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pic>
          <p:nvPicPr>
            <p:cNvPr id="42" name="Graphic 41" descr="Man outline">
              <a:extLst>
                <a:ext uri="{FF2B5EF4-FFF2-40B4-BE49-F238E27FC236}">
                  <a16:creationId xmlns:a16="http://schemas.microsoft.com/office/drawing/2014/main" id="{B481B03F-6943-4C97-8D24-C8F5F37A8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39626" y="3906559"/>
              <a:ext cx="253373" cy="25337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7C13DCD-E17B-47D5-B827-C5FD69EC740D}"/>
                </a:ext>
              </a:extLst>
            </p:cNvPr>
            <p:cNvSpPr txBox="1"/>
            <p:nvPr/>
          </p:nvSpPr>
          <p:spPr bwMode="auto">
            <a:xfrm>
              <a:off x="7370240" y="3295966"/>
              <a:ext cx="656785" cy="137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LOW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2172F1-3646-431D-9CAB-04CBAB17926F}"/>
              </a:ext>
            </a:extLst>
          </p:cNvPr>
          <p:cNvGrpSpPr/>
          <p:nvPr/>
        </p:nvGrpSpPr>
        <p:grpSpPr>
          <a:xfrm>
            <a:off x="323538" y="1825492"/>
            <a:ext cx="2997336" cy="1920612"/>
            <a:chOff x="4966189" y="2403842"/>
            <a:chExt cx="2997336" cy="1920612"/>
          </a:xfrm>
        </p:grpSpPr>
        <p:pic>
          <p:nvPicPr>
            <p:cNvPr id="49" name="Picture 48" descr="A black background with a circular design&#10;&#10;Description automatically generated">
              <a:extLst>
                <a:ext uri="{FF2B5EF4-FFF2-40B4-BE49-F238E27FC236}">
                  <a16:creationId xmlns:a16="http://schemas.microsoft.com/office/drawing/2014/main" id="{579792C4-CE34-4DE8-8A61-4AC9EB4F2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6566" y="2953793"/>
              <a:ext cx="386261" cy="386261"/>
            </a:xfrm>
            <a:prstGeom prst="rect">
              <a:avLst/>
            </a:prstGeom>
          </p:spPr>
        </p:pic>
        <p:pic>
          <p:nvPicPr>
            <p:cNvPr id="50" name="Picture 49" descr="A white line drawing of a leaf&#10;&#10;Description automatically generated">
              <a:extLst>
                <a:ext uri="{FF2B5EF4-FFF2-40B4-BE49-F238E27FC236}">
                  <a16:creationId xmlns:a16="http://schemas.microsoft.com/office/drawing/2014/main" id="{49655F83-E267-46CC-828F-9898AC6E5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2140" y="2421331"/>
              <a:ext cx="310753" cy="310753"/>
            </a:xfrm>
            <a:prstGeom prst="rect">
              <a:avLst/>
            </a:prstGeom>
          </p:spPr>
        </p:pic>
        <p:pic>
          <p:nvPicPr>
            <p:cNvPr id="51" name="Picture 50" descr="A wifi symbol on a black background&#10;&#10;Description automatically generated">
              <a:extLst>
                <a:ext uri="{FF2B5EF4-FFF2-40B4-BE49-F238E27FC236}">
                  <a16:creationId xmlns:a16="http://schemas.microsoft.com/office/drawing/2014/main" id="{8284C9DA-5556-4C1E-8F56-0022285E0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779" y="2976250"/>
              <a:ext cx="361847" cy="361847"/>
            </a:xfrm>
            <a:prstGeom prst="rect">
              <a:avLst/>
            </a:prstGeom>
          </p:spPr>
        </p:pic>
        <p:pic>
          <p:nvPicPr>
            <p:cNvPr id="52" name="Picture 51" descr="A white line drawing of gears&#10;&#10;Description automatically generated">
              <a:extLst>
                <a:ext uri="{FF2B5EF4-FFF2-40B4-BE49-F238E27FC236}">
                  <a16:creationId xmlns:a16="http://schemas.microsoft.com/office/drawing/2014/main" id="{2D9CB2B0-D297-4164-9F65-42A53798B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1806" y="2403842"/>
              <a:ext cx="348820" cy="348820"/>
            </a:xfrm>
            <a:prstGeom prst="rect">
              <a:avLst/>
            </a:prstGeom>
          </p:spPr>
        </p:pic>
        <p:pic>
          <p:nvPicPr>
            <p:cNvPr id="53" name="Picture 33">
              <a:extLst>
                <a:ext uri="{FF2B5EF4-FFF2-40B4-BE49-F238E27FC236}">
                  <a16:creationId xmlns:a16="http://schemas.microsoft.com/office/drawing/2014/main" id="{DDFC75ED-D600-44A0-BC7A-7B9FF1C96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333356" y="3910651"/>
              <a:ext cx="255929" cy="25592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11EC639-3F46-47F8-8723-C4FADE95C7B7}"/>
                </a:ext>
              </a:extLst>
            </p:cNvPr>
            <p:cNvSpPr txBox="1"/>
            <p:nvPr/>
          </p:nvSpPr>
          <p:spPr bwMode="auto">
            <a:xfrm>
              <a:off x="5010126" y="2726929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SETTINGS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BBC91B-C94A-4029-881E-CEA7327DE556}"/>
                </a:ext>
              </a:extLst>
            </p:cNvPr>
            <p:cNvSpPr txBox="1"/>
            <p:nvPr/>
          </p:nvSpPr>
          <p:spPr bwMode="auto">
            <a:xfrm>
              <a:off x="5336528" y="4188263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PRESENCE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CE00E8A-5A88-444F-98AF-00A61D41B0A1}"/>
                </a:ext>
              </a:extLst>
            </p:cNvPr>
            <p:cNvSpPr txBox="1"/>
            <p:nvPr/>
          </p:nvSpPr>
          <p:spPr bwMode="auto">
            <a:xfrm>
              <a:off x="7272043" y="2704326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MODE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3BF632-64B7-4563-8DF0-8C024CBE97A1}"/>
                </a:ext>
              </a:extLst>
            </p:cNvPr>
            <p:cNvSpPr txBox="1"/>
            <p:nvPr/>
          </p:nvSpPr>
          <p:spPr bwMode="auto">
            <a:xfrm>
              <a:off x="7094229" y="4185986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COMMAND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A8EA8AD-E1DE-455C-9F6A-E4588407AD8F}"/>
                </a:ext>
              </a:extLst>
            </p:cNvPr>
            <p:cNvSpPr txBox="1"/>
            <p:nvPr/>
          </p:nvSpPr>
          <p:spPr bwMode="auto">
            <a:xfrm>
              <a:off x="4966189" y="3302460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CONNECT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pic>
          <p:nvPicPr>
            <p:cNvPr id="59" name="Graphic 58" descr="Man outline">
              <a:extLst>
                <a:ext uri="{FF2B5EF4-FFF2-40B4-BE49-F238E27FC236}">
                  <a16:creationId xmlns:a16="http://schemas.microsoft.com/office/drawing/2014/main" id="{0D073D61-2A2D-49B7-877D-D8DECC6F3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39626" y="3906559"/>
              <a:ext cx="253373" cy="25337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87D92E2-CB87-40F2-A943-D511A5F15BE5}"/>
                </a:ext>
              </a:extLst>
            </p:cNvPr>
            <p:cNvSpPr txBox="1"/>
            <p:nvPr/>
          </p:nvSpPr>
          <p:spPr bwMode="auto">
            <a:xfrm>
              <a:off x="7306740" y="3295966"/>
              <a:ext cx="656785" cy="137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LOW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415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9173-A665-BDF3-D460-9031573C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6D02BCC-2376-384F-F622-6FABEE90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72" y="902754"/>
            <a:ext cx="2929469" cy="2929469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5AA9B38-6B68-F802-535D-6C8BBE9AB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772" y="899015"/>
            <a:ext cx="2929469" cy="2929469"/>
          </a:xfrm>
          <a:prstGeom prst="rect">
            <a:avLst/>
          </a:prstGeom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90D98B-05AB-6F24-FF83-B8B2C935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image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2E091-C9B6-A9A3-B0C1-7FE54A811B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CABCB-F43B-87F3-8AF1-26728BF572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D31CB9-A70A-69F4-6EC4-CECBFD046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648" y="1436155"/>
            <a:ext cx="3112182" cy="2929469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D1A19880-9901-8093-8FFA-F2AC7F3FC3D5}"/>
              </a:ext>
            </a:extLst>
          </p:cNvPr>
          <p:cNvSpPr/>
          <p:nvPr/>
        </p:nvSpPr>
        <p:spPr bwMode="auto">
          <a:xfrm rot="5400000">
            <a:off x="4624746" y="2574458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rgbClr val="086259">
              <a:alpha val="34902"/>
            </a:srgb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B25FE-E761-0823-67E6-AA14B3CAAA62}"/>
              </a:ext>
            </a:extLst>
          </p:cNvPr>
          <p:cNvSpPr/>
          <p:nvPr/>
        </p:nvSpPr>
        <p:spPr bwMode="auto">
          <a:xfrm>
            <a:off x="4751254" y="1313917"/>
            <a:ext cx="317971" cy="3213634"/>
          </a:xfrm>
          <a:prstGeom prst="rect">
            <a:avLst/>
          </a:prstGeom>
          <a:solidFill>
            <a:srgbClr val="BFBFBF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050AF-FBC2-BA79-54B2-A3EECA4DB4B3}"/>
              </a:ext>
            </a:extLst>
          </p:cNvPr>
          <p:cNvSpPr/>
          <p:nvPr/>
        </p:nvSpPr>
        <p:spPr bwMode="auto">
          <a:xfrm>
            <a:off x="8057259" y="1313917"/>
            <a:ext cx="317971" cy="3213634"/>
          </a:xfrm>
          <a:prstGeom prst="rect">
            <a:avLst/>
          </a:prstGeom>
          <a:solidFill>
            <a:srgbClr val="BFBFBF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2444B42D-B3E4-D255-0F16-AD9BDCB8A1FE}"/>
              </a:ext>
            </a:extLst>
          </p:cNvPr>
          <p:cNvSpPr/>
          <p:nvPr/>
        </p:nvSpPr>
        <p:spPr bwMode="auto">
          <a:xfrm rot="5400000">
            <a:off x="66831" y="2041059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rgbClr val="086259">
              <a:alpha val="34902"/>
            </a:srgb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D5959FBF-54AA-C9B8-92FB-B9B25C426EDA}"/>
              </a:ext>
            </a:extLst>
          </p:cNvPr>
          <p:cNvSpPr/>
          <p:nvPr/>
        </p:nvSpPr>
        <p:spPr bwMode="auto">
          <a:xfrm rot="16200000" flipH="1">
            <a:off x="2326863" y="2041850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rgbClr val="086259">
              <a:alpha val="34902"/>
            </a:srgb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4B8E31D3-347B-5E1E-2B55-2547AAC0CA6A}"/>
              </a:ext>
            </a:extLst>
          </p:cNvPr>
          <p:cNvSpPr/>
          <p:nvPr/>
        </p:nvSpPr>
        <p:spPr bwMode="auto">
          <a:xfrm>
            <a:off x="1222088" y="1700978"/>
            <a:ext cx="1324717" cy="1324717"/>
          </a:xfrm>
          <a:prstGeom prst="blockArc">
            <a:avLst>
              <a:gd name="adj1" fmla="val 10800000"/>
              <a:gd name="adj2" fmla="val 10799996"/>
              <a:gd name="adj3" fmla="val 18018"/>
            </a:avLst>
          </a:prstGeom>
          <a:gradFill>
            <a:gsLst>
              <a:gs pos="0">
                <a:srgbClr val="656464"/>
              </a:gs>
              <a:gs pos="74000">
                <a:srgbClr val="414852"/>
              </a:gs>
              <a:gs pos="100000">
                <a:srgbClr val="39404A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67FAB3A-80B1-CBB6-77A0-1028E4FC1785}"/>
              </a:ext>
            </a:extLst>
          </p:cNvPr>
          <p:cNvSpPr/>
          <p:nvPr/>
        </p:nvSpPr>
        <p:spPr bwMode="auto">
          <a:xfrm>
            <a:off x="1460126" y="1940874"/>
            <a:ext cx="844924" cy="844924"/>
          </a:xfrm>
          <a:prstGeom prst="ellipse">
            <a:avLst/>
          </a:prstGeom>
          <a:gradFill>
            <a:gsLst>
              <a:gs pos="0">
                <a:schemeClr val="tx1">
                  <a:lumMod val="90000"/>
                  <a:lumOff val="10000"/>
                  <a:alpha val="80000"/>
                </a:schemeClr>
              </a:gs>
              <a:gs pos="74000">
                <a:srgbClr val="101820">
                  <a:alpha val="80000"/>
                </a:srgbClr>
              </a:gs>
              <a:gs pos="100000">
                <a:srgbClr val="181820">
                  <a:alpha val="80000"/>
                </a:srgbClr>
              </a:gs>
            </a:gsLst>
            <a:lin ang="5400000" scaled="1"/>
          </a:gradFill>
          <a:ln w="9525">
            <a:solidFill>
              <a:srgbClr val="5C676C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45348D-57E7-CC0F-EC94-833B2979B8B2}"/>
              </a:ext>
            </a:extLst>
          </p:cNvPr>
          <p:cNvGrpSpPr/>
          <p:nvPr/>
        </p:nvGrpSpPr>
        <p:grpSpPr>
          <a:xfrm>
            <a:off x="1506203" y="2055869"/>
            <a:ext cx="833235" cy="648530"/>
            <a:chOff x="1506203" y="2055869"/>
            <a:chExt cx="833235" cy="6485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748786-CF78-DB2C-31B3-9C16688193EE}"/>
                </a:ext>
              </a:extLst>
            </p:cNvPr>
            <p:cNvSpPr/>
            <p:nvPr/>
          </p:nvSpPr>
          <p:spPr>
            <a:xfrm>
              <a:off x="1506203" y="2058068"/>
              <a:ext cx="70403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1">
                      <a:lumMod val="9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1708DE-B36C-C5DB-1F0A-257F49503AC6}"/>
                </a:ext>
              </a:extLst>
            </p:cNvPr>
            <p:cNvSpPr/>
            <p:nvPr/>
          </p:nvSpPr>
          <p:spPr>
            <a:xfrm>
              <a:off x="2010502" y="2055869"/>
              <a:ext cx="32893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800" dirty="0">
                  <a:solidFill>
                    <a:schemeClr val="bg1">
                      <a:lumMod val="95000"/>
                    </a:schemeClr>
                  </a:solidFill>
                  <a:latin typeface="Montserrat"/>
                </a:rPr>
                <a:t>°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Montserrat"/>
                <a:ea typeface="Roboto" panose="02000000000000000000" pitchFamily="2" charset="0"/>
              </a:endParaRPr>
            </a:p>
          </p:txBody>
        </p:sp>
      </p:grpSp>
      <p:sp>
        <p:nvSpPr>
          <p:cNvPr id="43" name="Double Bracket 42">
            <a:extLst>
              <a:ext uri="{FF2B5EF4-FFF2-40B4-BE49-F238E27FC236}">
                <a16:creationId xmlns:a16="http://schemas.microsoft.com/office/drawing/2014/main" id="{683EF5B0-C85B-EC5B-AEA0-21177705346F}"/>
              </a:ext>
            </a:extLst>
          </p:cNvPr>
          <p:cNvSpPr/>
          <p:nvPr/>
        </p:nvSpPr>
        <p:spPr>
          <a:xfrm>
            <a:off x="5567070" y="3942005"/>
            <a:ext cx="216496" cy="219755"/>
          </a:xfrm>
          <a:prstGeom prst="bracketPair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83CFD5E-94BD-24E5-6F92-5E3845D96B25}"/>
              </a:ext>
            </a:extLst>
          </p:cNvPr>
          <p:cNvGrpSpPr/>
          <p:nvPr/>
        </p:nvGrpSpPr>
        <p:grpSpPr>
          <a:xfrm>
            <a:off x="4966189" y="2403842"/>
            <a:ext cx="3060836" cy="1920612"/>
            <a:chOff x="4966189" y="2403842"/>
            <a:chExt cx="3060836" cy="1920612"/>
          </a:xfrm>
        </p:grpSpPr>
        <p:pic>
          <p:nvPicPr>
            <p:cNvPr id="32" name="Picture 31" descr="A black background with a circular design&#10;&#10;Description automatically generated">
              <a:extLst>
                <a:ext uri="{FF2B5EF4-FFF2-40B4-BE49-F238E27FC236}">
                  <a16:creationId xmlns:a16="http://schemas.microsoft.com/office/drawing/2014/main" id="{114BE58E-7E31-8BED-EBC6-D6CF0F8E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066" y="2953793"/>
              <a:ext cx="386261" cy="386261"/>
            </a:xfrm>
            <a:prstGeom prst="rect">
              <a:avLst/>
            </a:prstGeom>
          </p:spPr>
        </p:pic>
        <p:pic>
          <p:nvPicPr>
            <p:cNvPr id="33" name="Picture 32" descr="A white line drawing of a leaf&#10;&#10;Description automatically generated">
              <a:extLst>
                <a:ext uri="{FF2B5EF4-FFF2-40B4-BE49-F238E27FC236}">
                  <a16:creationId xmlns:a16="http://schemas.microsoft.com/office/drawing/2014/main" id="{07BC21CB-D1D4-4BCE-6271-AE6812A83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5640" y="2421331"/>
              <a:ext cx="310753" cy="310753"/>
            </a:xfrm>
            <a:prstGeom prst="rect">
              <a:avLst/>
            </a:prstGeom>
          </p:spPr>
        </p:pic>
        <p:pic>
          <p:nvPicPr>
            <p:cNvPr id="34" name="Picture 33" descr="A wifi symbol on a black background&#10;&#10;Description automatically generated">
              <a:extLst>
                <a:ext uri="{FF2B5EF4-FFF2-40B4-BE49-F238E27FC236}">
                  <a16:creationId xmlns:a16="http://schemas.microsoft.com/office/drawing/2014/main" id="{8DE16084-A8F0-B1D5-A361-6D562B123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779" y="2976250"/>
              <a:ext cx="361847" cy="361847"/>
            </a:xfrm>
            <a:prstGeom prst="rect">
              <a:avLst/>
            </a:prstGeom>
          </p:spPr>
        </p:pic>
        <p:pic>
          <p:nvPicPr>
            <p:cNvPr id="35" name="Picture 34" descr="A white line drawing of gears&#10;&#10;Description automatically generated">
              <a:extLst>
                <a:ext uri="{FF2B5EF4-FFF2-40B4-BE49-F238E27FC236}">
                  <a16:creationId xmlns:a16="http://schemas.microsoft.com/office/drawing/2014/main" id="{E341D023-B2DE-0D3B-6422-AC8080E26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1806" y="2403842"/>
              <a:ext cx="348820" cy="348820"/>
            </a:xfrm>
            <a:prstGeom prst="rect">
              <a:avLst/>
            </a:prstGeom>
          </p:spPr>
        </p:pic>
        <p:pic>
          <p:nvPicPr>
            <p:cNvPr id="36" name="Picture 33">
              <a:extLst>
                <a:ext uri="{FF2B5EF4-FFF2-40B4-BE49-F238E27FC236}">
                  <a16:creationId xmlns:a16="http://schemas.microsoft.com/office/drawing/2014/main" id="{08DF1BDC-460A-B239-9525-EDBAC2022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333356" y="3910651"/>
              <a:ext cx="255929" cy="255929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6FA7AB-F633-4E39-6977-7D469BCBEDBD}"/>
                </a:ext>
              </a:extLst>
            </p:cNvPr>
            <p:cNvSpPr txBox="1"/>
            <p:nvPr/>
          </p:nvSpPr>
          <p:spPr bwMode="auto">
            <a:xfrm>
              <a:off x="5010126" y="2726929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SETTINGS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7CABD05-A4B9-8C75-81D4-F255E61776CD}"/>
                </a:ext>
              </a:extLst>
            </p:cNvPr>
            <p:cNvSpPr txBox="1"/>
            <p:nvPr/>
          </p:nvSpPr>
          <p:spPr bwMode="auto">
            <a:xfrm>
              <a:off x="5336528" y="4188263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PRESENCE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75D99D-A8D4-4695-7CAA-71C94EFD07F6}"/>
                </a:ext>
              </a:extLst>
            </p:cNvPr>
            <p:cNvSpPr txBox="1"/>
            <p:nvPr/>
          </p:nvSpPr>
          <p:spPr bwMode="auto">
            <a:xfrm>
              <a:off x="7335543" y="2704326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MODE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E19353D-1B1B-0E4E-F888-AAAEABF24895}"/>
                </a:ext>
              </a:extLst>
            </p:cNvPr>
            <p:cNvSpPr txBox="1"/>
            <p:nvPr/>
          </p:nvSpPr>
          <p:spPr bwMode="auto">
            <a:xfrm>
              <a:off x="7094229" y="4185986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COMMAND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B24DD64-30D8-381D-6ED6-D13E7B664267}"/>
                </a:ext>
              </a:extLst>
            </p:cNvPr>
            <p:cNvSpPr txBox="1"/>
            <p:nvPr/>
          </p:nvSpPr>
          <p:spPr bwMode="auto">
            <a:xfrm>
              <a:off x="4966189" y="3302460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CONNECT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pic>
          <p:nvPicPr>
            <p:cNvPr id="42" name="Graphic 41" descr="Man outline">
              <a:extLst>
                <a:ext uri="{FF2B5EF4-FFF2-40B4-BE49-F238E27FC236}">
                  <a16:creationId xmlns:a16="http://schemas.microsoft.com/office/drawing/2014/main" id="{7B727CE7-1925-3C34-1F02-A86807E99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39626" y="3906559"/>
              <a:ext cx="253373" cy="25337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5D086A6-7137-A0D8-8CDE-45AD8AB39A37}"/>
                </a:ext>
              </a:extLst>
            </p:cNvPr>
            <p:cNvSpPr txBox="1"/>
            <p:nvPr/>
          </p:nvSpPr>
          <p:spPr bwMode="auto">
            <a:xfrm>
              <a:off x="7370240" y="3295966"/>
              <a:ext cx="656785" cy="137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LOW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2C31CD5-7106-1E0E-4FDF-C46B7A25E6D4}"/>
              </a:ext>
            </a:extLst>
          </p:cNvPr>
          <p:cNvGrpSpPr/>
          <p:nvPr/>
        </p:nvGrpSpPr>
        <p:grpSpPr>
          <a:xfrm>
            <a:off x="323538" y="1825492"/>
            <a:ext cx="2997336" cy="1920612"/>
            <a:chOff x="4966189" y="2403842"/>
            <a:chExt cx="2997336" cy="1920612"/>
          </a:xfrm>
        </p:grpSpPr>
        <p:pic>
          <p:nvPicPr>
            <p:cNvPr id="49" name="Picture 48" descr="A black background with a circular design&#10;&#10;Description automatically generated">
              <a:extLst>
                <a:ext uri="{FF2B5EF4-FFF2-40B4-BE49-F238E27FC236}">
                  <a16:creationId xmlns:a16="http://schemas.microsoft.com/office/drawing/2014/main" id="{63214B3F-DF22-0FA3-BA6C-F8590C62E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6566" y="2953793"/>
              <a:ext cx="386261" cy="386261"/>
            </a:xfrm>
            <a:prstGeom prst="rect">
              <a:avLst/>
            </a:prstGeom>
          </p:spPr>
        </p:pic>
        <p:pic>
          <p:nvPicPr>
            <p:cNvPr id="50" name="Picture 49" descr="A white line drawing of a leaf&#10;&#10;Description automatically generated">
              <a:extLst>
                <a:ext uri="{FF2B5EF4-FFF2-40B4-BE49-F238E27FC236}">
                  <a16:creationId xmlns:a16="http://schemas.microsoft.com/office/drawing/2014/main" id="{5695B650-3B6C-D13F-5D64-82A4301EA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2140" y="2421331"/>
              <a:ext cx="310753" cy="310753"/>
            </a:xfrm>
            <a:prstGeom prst="rect">
              <a:avLst/>
            </a:prstGeom>
          </p:spPr>
        </p:pic>
        <p:pic>
          <p:nvPicPr>
            <p:cNvPr id="51" name="Picture 50" descr="A wifi symbol on a black background&#10;&#10;Description automatically generated">
              <a:extLst>
                <a:ext uri="{FF2B5EF4-FFF2-40B4-BE49-F238E27FC236}">
                  <a16:creationId xmlns:a16="http://schemas.microsoft.com/office/drawing/2014/main" id="{88E06A24-E74D-8F84-6EFA-F581C0B67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779" y="2976250"/>
              <a:ext cx="361847" cy="361847"/>
            </a:xfrm>
            <a:prstGeom prst="rect">
              <a:avLst/>
            </a:prstGeom>
          </p:spPr>
        </p:pic>
        <p:pic>
          <p:nvPicPr>
            <p:cNvPr id="52" name="Picture 51" descr="A white line drawing of gears&#10;&#10;Description automatically generated">
              <a:extLst>
                <a:ext uri="{FF2B5EF4-FFF2-40B4-BE49-F238E27FC236}">
                  <a16:creationId xmlns:a16="http://schemas.microsoft.com/office/drawing/2014/main" id="{F505A953-A8F9-CC16-DA6A-D8A1206B3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1806" y="2403842"/>
              <a:ext cx="348820" cy="348820"/>
            </a:xfrm>
            <a:prstGeom prst="rect">
              <a:avLst/>
            </a:prstGeom>
          </p:spPr>
        </p:pic>
        <p:pic>
          <p:nvPicPr>
            <p:cNvPr id="53" name="Picture 33">
              <a:extLst>
                <a:ext uri="{FF2B5EF4-FFF2-40B4-BE49-F238E27FC236}">
                  <a16:creationId xmlns:a16="http://schemas.microsoft.com/office/drawing/2014/main" id="{5C563DE6-43D0-443C-734F-BEADAFE45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333356" y="3910651"/>
              <a:ext cx="255929" cy="25592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F4E4AF1-568F-25B6-6985-15B7721AB31F}"/>
                </a:ext>
              </a:extLst>
            </p:cNvPr>
            <p:cNvSpPr txBox="1"/>
            <p:nvPr/>
          </p:nvSpPr>
          <p:spPr bwMode="auto">
            <a:xfrm>
              <a:off x="5010126" y="2726929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SETTINGS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26DA74-29F4-F3B0-E66B-DAF8BD6EA517}"/>
                </a:ext>
              </a:extLst>
            </p:cNvPr>
            <p:cNvSpPr txBox="1"/>
            <p:nvPr/>
          </p:nvSpPr>
          <p:spPr bwMode="auto">
            <a:xfrm>
              <a:off x="5336528" y="4188263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PRESENCE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806EC7-8043-E8EF-5A02-4806289109A7}"/>
                </a:ext>
              </a:extLst>
            </p:cNvPr>
            <p:cNvSpPr txBox="1"/>
            <p:nvPr/>
          </p:nvSpPr>
          <p:spPr bwMode="auto">
            <a:xfrm>
              <a:off x="7272043" y="2704326"/>
              <a:ext cx="656785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MODE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A013A13-0D06-47CF-BAA7-CC8204DA928C}"/>
                </a:ext>
              </a:extLst>
            </p:cNvPr>
            <p:cNvSpPr txBox="1"/>
            <p:nvPr/>
          </p:nvSpPr>
          <p:spPr bwMode="auto">
            <a:xfrm>
              <a:off x="7094229" y="4185986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COMMAND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FF157-6D09-6B97-44DB-02269F2ABC2D}"/>
                </a:ext>
              </a:extLst>
            </p:cNvPr>
            <p:cNvSpPr txBox="1"/>
            <p:nvPr/>
          </p:nvSpPr>
          <p:spPr bwMode="auto">
            <a:xfrm>
              <a:off x="4966189" y="3302460"/>
              <a:ext cx="743757" cy="136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CONNECT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  <p:pic>
          <p:nvPicPr>
            <p:cNvPr id="59" name="Graphic 58" descr="Man outline">
              <a:extLst>
                <a:ext uri="{FF2B5EF4-FFF2-40B4-BE49-F238E27FC236}">
                  <a16:creationId xmlns:a16="http://schemas.microsoft.com/office/drawing/2014/main" id="{369A8F6E-4593-48B3-D853-C0FE17345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39626" y="3906559"/>
              <a:ext cx="253373" cy="25337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02DD352-D82D-3020-1E54-38EAE95F6D5E}"/>
                </a:ext>
              </a:extLst>
            </p:cNvPr>
            <p:cNvSpPr txBox="1"/>
            <p:nvPr/>
          </p:nvSpPr>
          <p:spPr bwMode="auto">
            <a:xfrm>
              <a:off x="7306740" y="3295966"/>
              <a:ext cx="656785" cy="137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ctr" defTabSz="4320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8276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800" b="1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LOW</a:t>
              </a:r>
              <a:endParaRPr kumimoji="0" lang="en-US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B768814-E581-68BB-4503-9A09D46F4C6A}"/>
              </a:ext>
            </a:extLst>
          </p:cNvPr>
          <p:cNvSpPr/>
          <p:nvPr/>
        </p:nvSpPr>
        <p:spPr bwMode="auto">
          <a:xfrm>
            <a:off x="421300" y="902754"/>
            <a:ext cx="1524000" cy="1524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46F0834-4259-72C6-B550-25974943D457}"/>
              </a:ext>
            </a:extLst>
          </p:cNvPr>
          <p:cNvGrpSpPr/>
          <p:nvPr/>
        </p:nvGrpSpPr>
        <p:grpSpPr>
          <a:xfrm>
            <a:off x="555585" y="1019175"/>
            <a:ext cx="1257660" cy="1295400"/>
            <a:chOff x="555585" y="1019175"/>
            <a:chExt cx="1257660" cy="1295400"/>
          </a:xfrm>
          <a:effectLst>
            <a:glow>
              <a:schemeClr val="bg1">
                <a:alpha val="1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14BAC8-D1B5-50EB-9676-E19DD2D0DC3B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843523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1CA9B50-2659-3651-55E5-B238F0368869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725759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8C5902-0C6B-3981-C50B-1915F7958308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607995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2C3272-175D-35BA-A06C-099872255D3D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490231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5314BB-7574-F865-13AA-533F767BA93E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372467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1CCD20-4FB2-B15D-30CF-FC8DE97B94D9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254703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4D4A515-BADC-0FEB-B3F3-0907D46812A7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136939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990AC54-28C1-E426-D297-D93E2826D088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019175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9840CD8-82A3-1691-43DB-7E9DD97F91C9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2314575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500B78B-A21D-802D-4B7A-B76D78EDB284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2196815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CA2FAB9-B448-C6A4-5759-1DE9D508A105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2079051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D86FF5D-4BBB-0751-ED0C-978E18B5C86C}"/>
                </a:ext>
              </a:extLst>
            </p:cNvPr>
            <p:cNvCxnSpPr>
              <a:cxnSpLocks/>
            </p:cNvCxnSpPr>
            <p:nvPr/>
          </p:nvCxnSpPr>
          <p:spPr>
            <a:xfrm>
              <a:off x="555585" y="1961287"/>
              <a:ext cx="1257660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42D1C8E7-C150-9209-990F-B444816D1E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567" y="352748"/>
            <a:ext cx="1977206" cy="1980193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F660C8D0-3A31-32F7-77B4-18047B89C3E0}"/>
              </a:ext>
            </a:extLst>
          </p:cNvPr>
          <p:cNvGrpSpPr/>
          <p:nvPr/>
        </p:nvGrpSpPr>
        <p:grpSpPr>
          <a:xfrm>
            <a:off x="552297" y="903104"/>
            <a:ext cx="1260949" cy="1521770"/>
            <a:chOff x="552297" y="903104"/>
            <a:chExt cx="1260949" cy="1521770"/>
          </a:xfrm>
          <a:effectLst>
            <a:glow>
              <a:schemeClr val="bg1">
                <a:lumMod val="95000"/>
                <a:alpha val="1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821B288-DD17-CBB5-2926-09C3E5317A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4572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970A3FA-8A0C-E0F8-46D3-D54A91EB93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35308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F67528D-A314-FF77-277E-BE2ECCA2EB2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52361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6592BC8-0B98-A2CC-CBD1-A63D61BFDE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37732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712F02D-80A2-9C2D-82EA-4053A60352E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23100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F7F927B-0CCE-828C-1947-2D1A397DC7B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8468" y="1663990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00BED65-FEEB-4AA8-0AB0-B9E5C5909D9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8588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4EE46EC-654F-1203-FD95-D691744F6D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836" y="1663990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D01D367-966D-6E8F-104E-434954B0C25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9204" y="1663990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0C146C7-4656-F450-2A22-3F8B0D2BDFC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93956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D87D79C-F264-FC8B-AAC7-16247B79E7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76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56740B9-2F4E-F53D-B1B8-61BF13D2495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49940" y="1663989"/>
              <a:ext cx="152176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rgbClr val="0A8276">
                      <a:alpha val="0"/>
                    </a:srgbClr>
                  </a:gs>
                  <a:gs pos="20000">
                    <a:schemeClr val="bg1">
                      <a:alpha val="50000"/>
                    </a:schemeClr>
                  </a:gs>
                  <a:gs pos="80000">
                    <a:schemeClr val="bg1">
                      <a:alpha val="50000"/>
                    </a:schemeClr>
                  </a:gs>
                  <a:gs pos="100000">
                    <a:srgbClr val="0A8276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none"/>
            </a:ln>
            <a:effectLst>
              <a:glow rad="25400">
                <a:schemeClr val="accent1">
                  <a:satMod val="175000"/>
                  <a:alpha val="2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148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6A18E2F-BCAF-300C-CDF4-4BC8B04E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(temp / design draft)</a:t>
            </a:r>
            <a:br>
              <a:rPr lang="en-US" dirty="0"/>
            </a:b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50EBA-7D7C-5B92-DA3E-61BC5A88A3CB}"/>
              </a:ext>
            </a:extLst>
          </p:cNvPr>
          <p:cNvSpPr txBox="1"/>
          <p:nvPr/>
        </p:nvSpPr>
        <p:spPr bwMode="auto">
          <a:xfrm>
            <a:off x="107918" y="451367"/>
            <a:ext cx="590731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F46AFD-F79D-4034-8561-2719BC9B4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699" y="832341"/>
            <a:ext cx="3155996" cy="31781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5EC02B-AD64-49BC-8074-0322B8B05B2E}"/>
              </a:ext>
            </a:extLst>
          </p:cNvPr>
          <p:cNvSpPr/>
          <p:nvPr/>
        </p:nvSpPr>
        <p:spPr bwMode="auto">
          <a:xfrm>
            <a:off x="393643" y="920231"/>
            <a:ext cx="3303038" cy="3303038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3FBE9-BB88-44CD-88DA-D80B6CF667FD}"/>
              </a:ext>
            </a:extLst>
          </p:cNvPr>
          <p:cNvSpPr txBox="1"/>
          <p:nvPr/>
        </p:nvSpPr>
        <p:spPr bwMode="auto">
          <a:xfrm>
            <a:off x="540885" y="1169348"/>
            <a:ext cx="1422563" cy="45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2700" b="1" i="0" u="none" strike="noStrike" kern="0" cap="none" spc="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08:45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689F9-2802-4121-BB5F-FE6100F42AB6}"/>
              </a:ext>
            </a:extLst>
          </p:cNvPr>
          <p:cNvSpPr txBox="1"/>
          <p:nvPr/>
        </p:nvSpPr>
        <p:spPr bwMode="auto">
          <a:xfrm>
            <a:off x="540885" y="985421"/>
            <a:ext cx="1304175" cy="25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Mon, 06 Aug</a:t>
            </a: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A6FB6-85CD-4127-B15A-E646C0B727D5}"/>
              </a:ext>
            </a:extLst>
          </p:cNvPr>
          <p:cNvSpPr txBox="1"/>
          <p:nvPr/>
        </p:nvSpPr>
        <p:spPr bwMode="auto">
          <a:xfrm>
            <a:off x="2911166" y="1016943"/>
            <a:ext cx="640619" cy="237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23 </a:t>
            </a:r>
            <a:r>
              <a:rPr kumimoji="0" lang="en-IN" sz="1400" b="1" i="0" u="none" strike="noStrike" kern="0" cap="none" spc="0" normalizeH="0" baseline="0" noProof="0" dirty="0">
                <a:ln>
                  <a:noFill/>
                </a:ln>
                <a:solidFill>
                  <a:srgbClr val="EEF0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°C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FABDB206-46C6-4736-AAC2-904ACD413693}"/>
              </a:ext>
            </a:extLst>
          </p:cNvPr>
          <p:cNvSpPr/>
          <p:nvPr/>
        </p:nvSpPr>
        <p:spPr bwMode="auto">
          <a:xfrm>
            <a:off x="2001910" y="1852708"/>
            <a:ext cx="243281" cy="14434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marL="0" marR="0" lvl="0" indent="0" algn="ctr" defTabSz="432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8BBB630-D4BA-42DC-B2DD-5F3775602BEA}"/>
              </a:ext>
            </a:extLst>
          </p:cNvPr>
          <p:cNvSpPr/>
          <p:nvPr/>
        </p:nvSpPr>
        <p:spPr bwMode="auto">
          <a:xfrm rot="10800000">
            <a:off x="2003548" y="2922034"/>
            <a:ext cx="243281" cy="14434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marL="0" marR="0" lvl="0" indent="0" algn="ctr" defTabSz="432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13" name="Picture 12" descr="A black background with a circular design&#10;&#10;Description automatically generated">
            <a:extLst>
              <a:ext uri="{FF2B5EF4-FFF2-40B4-BE49-F238E27FC236}">
                <a16:creationId xmlns:a16="http://schemas.microsoft.com/office/drawing/2014/main" id="{6112F248-A53A-47FE-B62A-B195152451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68" y="3083865"/>
            <a:ext cx="386261" cy="3862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30FB9C-C74F-43C0-AC1A-BE1149AEDF79}"/>
              </a:ext>
            </a:extLst>
          </p:cNvPr>
          <p:cNvSpPr txBox="1"/>
          <p:nvPr/>
        </p:nvSpPr>
        <p:spPr bwMode="auto">
          <a:xfrm>
            <a:off x="1531093" y="1906570"/>
            <a:ext cx="1112867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3" panose="020B0503030403020204" pitchFamily="34" charset="0"/>
                <a:cs typeface="Arial"/>
                <a:sym typeface="Arial"/>
              </a:rPr>
              <a:t>22</a:t>
            </a:r>
            <a:endParaRPr kumimoji="0" lang="en-US" sz="4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3" panose="020B0503030403020204" pitchFamily="34" charset="0"/>
              <a:cs typeface="Arial"/>
              <a:sym typeface="Arial"/>
            </a:endParaRPr>
          </a:p>
        </p:txBody>
      </p:sp>
      <p:pic>
        <p:nvPicPr>
          <p:cNvPr id="18" name="Picture 17" descr="A sun and cloud with black background">
            <a:extLst>
              <a:ext uri="{FF2B5EF4-FFF2-40B4-BE49-F238E27FC236}">
                <a16:creationId xmlns:a16="http://schemas.microsoft.com/office/drawing/2014/main" id="{42D483B3-C77C-4016-ABEE-55BD4D8736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875" y="1034522"/>
            <a:ext cx="386261" cy="405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5625B3-1AFB-45C8-A848-03B6FE7C2F55}"/>
              </a:ext>
            </a:extLst>
          </p:cNvPr>
          <p:cNvSpPr txBox="1"/>
          <p:nvPr/>
        </p:nvSpPr>
        <p:spPr bwMode="auto">
          <a:xfrm>
            <a:off x="2466849" y="1220477"/>
            <a:ext cx="1112489" cy="206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Bangalore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FEB6F2-3DC9-4DB3-BD64-A9837D1D1F81}"/>
              </a:ext>
            </a:extLst>
          </p:cNvPr>
          <p:cNvCxnSpPr>
            <a:cxnSpLocks/>
          </p:cNvCxnSpPr>
          <p:nvPr/>
        </p:nvCxnSpPr>
        <p:spPr>
          <a:xfrm>
            <a:off x="3609750" y="2253762"/>
            <a:ext cx="279564" cy="6739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C8A8900-17AA-434A-91A8-08297E5A466D}"/>
              </a:ext>
            </a:extLst>
          </p:cNvPr>
          <p:cNvSpPr/>
          <p:nvPr/>
        </p:nvSpPr>
        <p:spPr bwMode="auto">
          <a:xfrm>
            <a:off x="3298006" y="2264994"/>
            <a:ext cx="243281" cy="144345"/>
          </a:xfrm>
          <a:prstGeom prst="triangle">
            <a:avLst/>
          </a:prstGeom>
          <a:solidFill>
            <a:srgbClr val="FB4747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marL="0" marR="0" lvl="0" indent="0" algn="ctr" defTabSz="432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951F1F4-6892-474F-AFBF-87ABD0923650}"/>
              </a:ext>
            </a:extLst>
          </p:cNvPr>
          <p:cNvSpPr/>
          <p:nvPr/>
        </p:nvSpPr>
        <p:spPr bwMode="auto">
          <a:xfrm>
            <a:off x="3320806" y="2437485"/>
            <a:ext cx="197679" cy="117288"/>
          </a:xfrm>
          <a:prstGeom prst="triangle">
            <a:avLst/>
          </a:prstGeom>
          <a:solidFill>
            <a:srgbClr val="FF3F3F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marL="0" marR="0" lvl="0" indent="0" algn="ctr" defTabSz="432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734CE92-893E-4BC9-ACD2-B8FCA9EB1F7E}"/>
              </a:ext>
            </a:extLst>
          </p:cNvPr>
          <p:cNvSpPr/>
          <p:nvPr/>
        </p:nvSpPr>
        <p:spPr bwMode="auto">
          <a:xfrm>
            <a:off x="3342156" y="2579419"/>
            <a:ext cx="154979" cy="91953"/>
          </a:xfrm>
          <a:prstGeom prst="triangle">
            <a:avLst/>
          </a:prstGeom>
          <a:solidFill>
            <a:srgbClr val="FF5050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marL="0" marR="0" lvl="0" indent="0" algn="ctr" defTabSz="432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BCE399-BA67-4676-A150-6907CD02B15D}"/>
              </a:ext>
            </a:extLst>
          </p:cNvPr>
          <p:cNvSpPr txBox="1"/>
          <p:nvPr/>
        </p:nvSpPr>
        <p:spPr bwMode="auto">
          <a:xfrm>
            <a:off x="3153854" y="2013376"/>
            <a:ext cx="53158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3737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24</a:t>
            </a: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FF3737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°C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FF3737"/>
              </a:solidFill>
              <a:effectLst/>
              <a:uLnTx/>
              <a:uFillTx/>
              <a:latin typeface="Arial" charset="0"/>
              <a:cs typeface="Arial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9D9140-CEB2-43F5-BFD0-AA6B1C925223}"/>
              </a:ext>
            </a:extLst>
          </p:cNvPr>
          <p:cNvSpPr txBox="1"/>
          <p:nvPr/>
        </p:nvSpPr>
        <p:spPr bwMode="auto">
          <a:xfrm>
            <a:off x="3082074" y="1840530"/>
            <a:ext cx="7134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Set to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rial" charset="0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4EA7C3-5AEB-497F-AB37-C36CDE4B634B}"/>
              </a:ext>
            </a:extLst>
          </p:cNvPr>
          <p:cNvSpPr txBox="1"/>
          <p:nvPr/>
        </p:nvSpPr>
        <p:spPr bwMode="auto">
          <a:xfrm>
            <a:off x="721779" y="3156985"/>
            <a:ext cx="2734169" cy="25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Heating …</a:t>
            </a: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42A970C-1729-49D5-A8CC-7C91E951F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920" y="2625395"/>
            <a:ext cx="658425" cy="1548518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9CA93AA-65AC-4DF7-8016-A49BFC25E7A0}"/>
              </a:ext>
            </a:extLst>
          </p:cNvPr>
          <p:cNvSpPr/>
          <p:nvPr/>
        </p:nvSpPr>
        <p:spPr bwMode="auto">
          <a:xfrm rot="5400000">
            <a:off x="7575920" y="1249402"/>
            <a:ext cx="1375200" cy="835200"/>
          </a:xfrm>
          <a:prstGeom prst="roundRect">
            <a:avLst>
              <a:gd name="adj" fmla="val 3096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9BBA43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B4EC7AF0-DC6B-4AFE-BAE2-683D9B1F80C2}"/>
              </a:ext>
            </a:extLst>
          </p:cNvPr>
          <p:cNvSpPr/>
          <p:nvPr/>
        </p:nvSpPr>
        <p:spPr bwMode="auto">
          <a:xfrm rot="5400000">
            <a:off x="7934758" y="3555959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6D25475C-DD05-452B-A3C6-8E3F4C6A49D7}"/>
              </a:ext>
            </a:extLst>
          </p:cNvPr>
          <p:cNvSpPr/>
          <p:nvPr/>
        </p:nvSpPr>
        <p:spPr bwMode="auto">
          <a:xfrm rot="16200000">
            <a:off x="7246708" y="3719212"/>
            <a:ext cx="1375200" cy="658425"/>
          </a:xfrm>
          <a:prstGeom prst="round2SameRect">
            <a:avLst>
              <a:gd name="adj1" fmla="val 44038"/>
              <a:gd name="adj2" fmla="val 0"/>
            </a:avLst>
          </a:prstGeom>
          <a:noFill/>
          <a:ln w="12700">
            <a:solidFill>
              <a:srgbClr val="9BBA43"/>
            </a:solidFill>
            <a:miter lim="800000"/>
            <a:headEnd/>
            <a:tailEnd/>
          </a:ln>
          <a:effectLst>
            <a:outerShdw blurRad="38100" dist="25400" dir="10800000" algn="r" rotWithShape="0">
              <a:prstClr val="black">
                <a:alpha val="8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46" name="Picture 45" descr="A white line drawing of a leaf&#10;&#10;Description automatically generated">
            <a:extLst>
              <a:ext uri="{FF2B5EF4-FFF2-40B4-BE49-F238E27FC236}">
                <a16:creationId xmlns:a16="http://schemas.microsoft.com/office/drawing/2014/main" id="{814A2A8E-BF15-4874-86BD-F35BBA87A7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786" y="3683560"/>
            <a:ext cx="310753" cy="310753"/>
          </a:xfrm>
          <a:prstGeom prst="rect">
            <a:avLst/>
          </a:prstGeom>
        </p:spPr>
      </p:pic>
      <p:pic>
        <p:nvPicPr>
          <p:cNvPr id="47" name="Picture 46" descr="A wifi symbol on a black background&#10;&#10;Description automatically generated">
            <a:extLst>
              <a:ext uri="{FF2B5EF4-FFF2-40B4-BE49-F238E27FC236}">
                <a16:creationId xmlns:a16="http://schemas.microsoft.com/office/drawing/2014/main" id="{4F19306C-FED9-46D0-A220-0405849C1B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605" y="3640341"/>
            <a:ext cx="361847" cy="361847"/>
          </a:xfrm>
          <a:prstGeom prst="rect">
            <a:avLst/>
          </a:prstGeom>
        </p:spPr>
      </p:pic>
      <p:pic>
        <p:nvPicPr>
          <p:cNvPr id="48" name="Picture 47" descr="A white line drawing of gears&#10;&#10;Description automatically generated">
            <a:extLst>
              <a:ext uri="{FF2B5EF4-FFF2-40B4-BE49-F238E27FC236}">
                <a16:creationId xmlns:a16="http://schemas.microsoft.com/office/drawing/2014/main" id="{324039B2-0B49-434B-AF90-0E9293FA50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41" y="3650398"/>
            <a:ext cx="348820" cy="348820"/>
          </a:xfrm>
          <a:prstGeom prst="rect">
            <a:avLst/>
          </a:prstGeom>
        </p:spPr>
      </p:pic>
      <p:pic>
        <p:nvPicPr>
          <p:cNvPr id="49" name="Picture 33">
            <a:extLst>
              <a:ext uri="{FF2B5EF4-FFF2-40B4-BE49-F238E27FC236}">
                <a16:creationId xmlns:a16="http://schemas.microsoft.com/office/drawing/2014/main" id="{82A1A586-C22D-4F0E-A071-BA671B11B9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518095" y="3681857"/>
            <a:ext cx="313314" cy="31331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C5CB165-F86C-4AF1-9C8E-458967143C98}"/>
              </a:ext>
            </a:extLst>
          </p:cNvPr>
          <p:cNvSpPr txBox="1"/>
          <p:nvPr/>
        </p:nvSpPr>
        <p:spPr bwMode="auto">
          <a:xfrm>
            <a:off x="460361" y="3994915"/>
            <a:ext cx="656785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SETTINGS</a:t>
            </a:r>
            <a:endParaRPr kumimoji="0" lang="en-US" sz="800" b="1" i="0" u="none" strike="noStrike" kern="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310393-A6CE-4582-B54E-CB601560EFA7}"/>
              </a:ext>
            </a:extLst>
          </p:cNvPr>
          <p:cNvSpPr txBox="1"/>
          <p:nvPr/>
        </p:nvSpPr>
        <p:spPr bwMode="auto">
          <a:xfrm>
            <a:off x="1129279" y="3990366"/>
            <a:ext cx="656785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PRESENCE</a:t>
            </a:r>
            <a:endParaRPr kumimoji="0" lang="en-US" sz="800" b="1" i="0" u="none" strike="noStrike" kern="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F069F3-30F9-49D1-AEB2-E06BBEE7BF7B}"/>
              </a:ext>
            </a:extLst>
          </p:cNvPr>
          <p:cNvSpPr txBox="1"/>
          <p:nvPr/>
        </p:nvSpPr>
        <p:spPr bwMode="auto">
          <a:xfrm>
            <a:off x="1725408" y="3990366"/>
            <a:ext cx="656785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MODE</a:t>
            </a:r>
            <a:endParaRPr kumimoji="0" lang="en-US" sz="800" b="1" i="0" u="none" strike="noStrike" kern="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76BA64-E8BD-4325-A027-E1F104FE60E6}"/>
              </a:ext>
            </a:extLst>
          </p:cNvPr>
          <p:cNvSpPr txBox="1"/>
          <p:nvPr/>
        </p:nvSpPr>
        <p:spPr bwMode="auto">
          <a:xfrm>
            <a:off x="2321537" y="3990366"/>
            <a:ext cx="743757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COMMAND</a:t>
            </a:r>
            <a:endParaRPr kumimoji="0" lang="en-US" sz="800" b="1" i="0" u="none" strike="noStrike" kern="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439ED3-F699-4936-8F63-57AD2A19A868}"/>
              </a:ext>
            </a:extLst>
          </p:cNvPr>
          <p:cNvSpPr txBox="1"/>
          <p:nvPr/>
        </p:nvSpPr>
        <p:spPr bwMode="auto">
          <a:xfrm>
            <a:off x="2995541" y="3990366"/>
            <a:ext cx="743757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432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 typeface="Arial"/>
              <a:buNone/>
              <a:tabLst/>
              <a:defRPr/>
            </a:pPr>
            <a:r>
              <a:rPr kumimoji="0" lang="en-IN" sz="800" b="1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CONNECT</a:t>
            </a:r>
            <a:endParaRPr kumimoji="0" lang="en-US" sz="800" b="1" i="0" u="none" strike="noStrike" kern="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55" name="Graphic 54" descr="Man outline">
            <a:extLst>
              <a:ext uri="{FF2B5EF4-FFF2-40B4-BE49-F238E27FC236}">
                <a16:creationId xmlns:a16="http://schemas.microsoft.com/office/drawing/2014/main" id="{6521AB97-5501-43F3-9FED-84323E72A4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84751" y="3636439"/>
            <a:ext cx="348958" cy="348958"/>
          </a:xfrm>
          <a:prstGeom prst="rect">
            <a:avLst/>
          </a:prstGeom>
        </p:spPr>
      </p:pic>
      <p:sp>
        <p:nvSpPr>
          <p:cNvPr id="56" name="Double Bracket 55">
            <a:extLst>
              <a:ext uri="{FF2B5EF4-FFF2-40B4-BE49-F238E27FC236}">
                <a16:creationId xmlns:a16="http://schemas.microsoft.com/office/drawing/2014/main" id="{24B9FAB8-7F76-49AD-A72E-671711388D37}"/>
              </a:ext>
            </a:extLst>
          </p:cNvPr>
          <p:cNvSpPr/>
          <p:nvPr/>
        </p:nvSpPr>
        <p:spPr>
          <a:xfrm>
            <a:off x="1312195" y="3671885"/>
            <a:ext cx="298170" cy="302658"/>
          </a:xfrm>
          <a:prstGeom prst="bracketPair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F04AF-E282-4CAC-9195-5EDC2A04E6A4}"/>
              </a:ext>
            </a:extLst>
          </p:cNvPr>
          <p:cNvSpPr/>
          <p:nvPr/>
        </p:nvSpPr>
        <p:spPr>
          <a:xfrm>
            <a:off x="2375631" y="2074375"/>
            <a:ext cx="33855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3" panose="020B0503030403020204" pitchFamily="34" charset="0"/>
                <a:cs typeface="Arial"/>
                <a:sym typeface="Arial"/>
              </a:rPr>
              <a:t>°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3" panose="020B0503030403020204" pitchFamily="34" charset="0"/>
              <a:cs typeface="Arial"/>
              <a:sym typeface="Arial"/>
            </a:endParaRPr>
          </a:p>
        </p:txBody>
      </p:sp>
      <p:sp>
        <p:nvSpPr>
          <p:cNvPr id="57" name="Block Arc 56">
            <a:extLst>
              <a:ext uri="{FF2B5EF4-FFF2-40B4-BE49-F238E27FC236}">
                <a16:creationId xmlns:a16="http://schemas.microsoft.com/office/drawing/2014/main" id="{6DF79B21-3A1B-42D0-B4D1-20B8FFC76E43}"/>
              </a:ext>
            </a:extLst>
          </p:cNvPr>
          <p:cNvSpPr/>
          <p:nvPr/>
        </p:nvSpPr>
        <p:spPr bwMode="auto">
          <a:xfrm rot="18000000">
            <a:off x="1357444" y="1813979"/>
            <a:ext cx="1387064" cy="1387064"/>
          </a:xfrm>
          <a:prstGeom prst="blockArc">
            <a:avLst>
              <a:gd name="adj1" fmla="val 20665854"/>
              <a:gd name="adj2" fmla="val 3233877"/>
              <a:gd name="adj3" fmla="val 2599"/>
            </a:avLst>
          </a:prstGeom>
          <a:solidFill>
            <a:srgbClr val="F97414"/>
          </a:solidFill>
          <a:ln w="9525">
            <a:noFill/>
            <a:miter lim="800000"/>
            <a:headEnd/>
            <a:tailEnd/>
          </a:ln>
          <a:effectLst>
            <a:glow rad="50800">
              <a:srgbClr val="FF3300">
                <a:alpha val="40000"/>
              </a:srgbClr>
            </a:glow>
          </a:effectLst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8" name="Block Arc 57">
            <a:extLst>
              <a:ext uri="{FF2B5EF4-FFF2-40B4-BE49-F238E27FC236}">
                <a16:creationId xmlns:a16="http://schemas.microsoft.com/office/drawing/2014/main" id="{68DAEC18-AD3D-4A7A-914C-55B10D6895E3}"/>
              </a:ext>
            </a:extLst>
          </p:cNvPr>
          <p:cNvSpPr/>
          <p:nvPr/>
        </p:nvSpPr>
        <p:spPr bwMode="auto">
          <a:xfrm rot="11700000">
            <a:off x="1357869" y="1813978"/>
            <a:ext cx="1387064" cy="1387064"/>
          </a:xfrm>
          <a:prstGeom prst="blockArc">
            <a:avLst>
              <a:gd name="adj1" fmla="val 20665854"/>
              <a:gd name="adj2" fmla="val 3233877"/>
              <a:gd name="adj3" fmla="val 2599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glow rad="50800">
              <a:schemeClr val="accent1">
                <a:lumMod val="60000"/>
                <a:lumOff val="40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082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84F84-A86F-4A5D-9089-454D1EF6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(temp / design draft) – tutorial idea (TODO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5EC6-B4F2-43EB-A549-C445226BC6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14843-5D75-4F78-9E9D-92D9A76FAA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836138-F545-4D21-B692-A06AE8077B06}"/>
              </a:ext>
            </a:extLst>
          </p:cNvPr>
          <p:cNvGrpSpPr/>
          <p:nvPr/>
        </p:nvGrpSpPr>
        <p:grpSpPr>
          <a:xfrm>
            <a:off x="143334" y="634467"/>
            <a:ext cx="2339516" cy="2074613"/>
            <a:chOff x="98884" y="780517"/>
            <a:chExt cx="3623976" cy="32136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24E6C4-1357-43B5-ABF5-5EF413724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278" y="902755"/>
              <a:ext cx="3112182" cy="2929469"/>
            </a:xfrm>
            <a:prstGeom prst="rect">
              <a:avLst/>
            </a:prstGeom>
          </p:spPr>
        </p:pic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0B02BF64-28D0-4A15-97A1-DFB49925E9C3}"/>
                </a:ext>
              </a:extLst>
            </p:cNvPr>
            <p:cNvSpPr/>
            <p:nvPr/>
          </p:nvSpPr>
          <p:spPr bwMode="auto">
            <a:xfrm rot="5400000">
              <a:off x="-27624" y="2041058"/>
              <a:ext cx="1375200" cy="658425"/>
            </a:xfrm>
            <a:prstGeom prst="round2SameRect">
              <a:avLst>
                <a:gd name="adj1" fmla="val 44038"/>
                <a:gd name="adj2" fmla="val 0"/>
              </a:avLst>
            </a:prstGeom>
            <a:solidFill>
              <a:srgbClr val="086259">
                <a:alpha val="34902"/>
              </a:srgbClr>
            </a:solidFill>
            <a:ln w="12700">
              <a:solidFill>
                <a:srgbClr val="9BBA43"/>
              </a:solidFill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72000" tIns="72000" rIns="72000" bIns="72000" rtlCol="0" anchor="ctr"/>
            <a:lstStyle/>
            <a:p>
              <a:pPr algn="ctr" defTabSz="576000" eaLnBrk="0" hangingPunct="0">
                <a:lnSpc>
                  <a:spcPct val="120000"/>
                </a:lnSpc>
              </a:pPr>
              <a:endParaRPr lang="en-US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D379DB-F747-457E-9AF5-4BD7FB98761D}"/>
                </a:ext>
              </a:extLst>
            </p:cNvPr>
            <p:cNvSpPr/>
            <p:nvPr/>
          </p:nvSpPr>
          <p:spPr bwMode="auto">
            <a:xfrm>
              <a:off x="98884" y="780517"/>
              <a:ext cx="317971" cy="3213634"/>
            </a:xfrm>
            <a:prstGeom prst="rect">
              <a:avLst/>
            </a:prstGeom>
            <a:solidFill>
              <a:srgbClr val="BFBFBF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72000" tIns="72000" rIns="72000" bIns="72000" rtlCol="0" anchor="ctr"/>
            <a:lstStyle/>
            <a:p>
              <a:pPr algn="ctr" defTabSz="576000" eaLnBrk="0" hangingPunct="0">
                <a:lnSpc>
                  <a:spcPct val="120000"/>
                </a:lnSpc>
              </a:pPr>
              <a:endParaRPr lang="en-US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553A0E-35EE-485F-9597-1DC838CB6831}"/>
                </a:ext>
              </a:extLst>
            </p:cNvPr>
            <p:cNvSpPr/>
            <p:nvPr/>
          </p:nvSpPr>
          <p:spPr bwMode="auto">
            <a:xfrm>
              <a:off x="3404889" y="780517"/>
              <a:ext cx="317971" cy="3213634"/>
            </a:xfrm>
            <a:prstGeom prst="rect">
              <a:avLst/>
            </a:prstGeom>
            <a:solidFill>
              <a:srgbClr val="BFBFBF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72000" tIns="72000" rIns="72000" bIns="72000" rtlCol="0" anchor="ctr"/>
            <a:lstStyle/>
            <a:p>
              <a:pPr algn="ctr" defTabSz="576000" eaLnBrk="0" hangingPunct="0">
                <a:lnSpc>
                  <a:spcPct val="120000"/>
                </a:lnSpc>
              </a:pPr>
              <a:endParaRPr lang="en-US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489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DFE29-54AA-B8CF-9B6A-F8A58593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6407AF27-CB55-D700-A9B0-DC47890E6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962" y="1125233"/>
            <a:ext cx="3303038" cy="3303038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4A0BEF2B-92B9-A0C7-6109-44316CDD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Active screen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EBD49-38F2-88D6-4E37-C84FB9F7FEC1}"/>
              </a:ext>
            </a:extLst>
          </p:cNvPr>
          <p:cNvSpPr txBox="1"/>
          <p:nvPr/>
        </p:nvSpPr>
        <p:spPr bwMode="auto">
          <a:xfrm>
            <a:off x="3029712" y="1374735"/>
            <a:ext cx="1422563" cy="45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2700" b="1" spc="90" dirty="0">
                <a:solidFill>
                  <a:srgbClr val="FFFFFF"/>
                </a:solidFill>
                <a:latin typeface="Montserrat" panose="00000500000000000000" pitchFamily="2" charset="0"/>
              </a:rPr>
              <a:t>08:45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D02D8-7BEB-CA7E-6D3D-9CD02DC653E3}"/>
              </a:ext>
            </a:extLst>
          </p:cNvPr>
          <p:cNvSpPr txBox="1"/>
          <p:nvPr/>
        </p:nvSpPr>
        <p:spPr bwMode="auto">
          <a:xfrm>
            <a:off x="3029712" y="1190808"/>
            <a:ext cx="1304175" cy="25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1500" b="1" dirty="0">
                <a:solidFill>
                  <a:srgbClr val="FFFFFF"/>
                </a:solidFill>
                <a:latin typeface="Montserrat" panose="00000500000000000000" pitchFamily="2" charset="0"/>
              </a:rPr>
              <a:t>Mon, 06 Aug</a:t>
            </a:r>
            <a:endParaRPr lang="en-US" sz="150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560E93-3532-13A1-A2F9-03CB4E19A19A}"/>
              </a:ext>
            </a:extLst>
          </p:cNvPr>
          <p:cNvSpPr txBox="1"/>
          <p:nvPr/>
        </p:nvSpPr>
        <p:spPr bwMode="auto">
          <a:xfrm>
            <a:off x="2009358" y="416768"/>
            <a:ext cx="48017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Control of temperature and fan speed for the selected room</a:t>
            </a:r>
          </a:p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Can timeout and go to “Idle” screen</a:t>
            </a:r>
            <a:endParaRPr lang="en-US" sz="1000" kern="1200" dirty="0">
              <a:solidFill>
                <a:srgbClr val="1D1D1D"/>
              </a:solidFill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E30BD-1449-A11F-8E28-298C459A3587}"/>
              </a:ext>
            </a:extLst>
          </p:cNvPr>
          <p:cNvSpPr txBox="1"/>
          <p:nvPr/>
        </p:nvSpPr>
        <p:spPr bwMode="auto">
          <a:xfrm>
            <a:off x="4631102" y="1319668"/>
            <a:ext cx="1075289" cy="237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b="1" dirty="0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  <a:r>
              <a:rPr lang="en-IN" b="1" i="0" dirty="0">
                <a:solidFill>
                  <a:srgbClr val="EEF0FF"/>
                </a:solidFill>
                <a:effectLst/>
                <a:latin typeface="Montserrat" panose="00000500000000000000" pitchFamily="2" charset="0"/>
              </a:rPr>
              <a:t>°c </a:t>
            </a:r>
            <a:r>
              <a:rPr lang="en-IN" b="1" dirty="0">
                <a:solidFill>
                  <a:srgbClr val="FFFFFF"/>
                </a:solidFill>
                <a:latin typeface="Montserrat" panose="00000500000000000000" pitchFamily="2" charset="0"/>
              </a:rPr>
              <a:t>Cloudy</a:t>
            </a:r>
            <a:endParaRPr lang="en-US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9BABA642-2E7A-4231-A37D-10B34EB443F5}"/>
              </a:ext>
            </a:extLst>
          </p:cNvPr>
          <p:cNvSpPr/>
          <p:nvPr/>
        </p:nvSpPr>
        <p:spPr bwMode="auto">
          <a:xfrm>
            <a:off x="4443953" y="2045917"/>
            <a:ext cx="243281" cy="14434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200" kern="1200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97F65FDA-E5B6-5533-F29C-B27287F5237A}"/>
              </a:ext>
            </a:extLst>
          </p:cNvPr>
          <p:cNvSpPr/>
          <p:nvPr/>
        </p:nvSpPr>
        <p:spPr bwMode="auto">
          <a:xfrm rot="10800000">
            <a:off x="4443954" y="3121189"/>
            <a:ext cx="243281" cy="14434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200" kern="1200" dirty="0">
              <a:solidFill>
                <a:srgbClr val="FFFFFF"/>
              </a:solidFill>
              <a:ea typeface="+mn-ea"/>
            </a:endParaRPr>
          </a:p>
        </p:txBody>
      </p:sp>
      <p:pic>
        <p:nvPicPr>
          <p:cNvPr id="1030" name="Picture 1029" descr="A black background with a circular design&#10;&#10;Description automatically generated">
            <a:extLst>
              <a:ext uri="{FF2B5EF4-FFF2-40B4-BE49-F238E27FC236}">
                <a16:creationId xmlns:a16="http://schemas.microsoft.com/office/drawing/2014/main" id="{153AAD21-137E-65C9-E0CE-D5498210724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152" y="3076159"/>
            <a:ext cx="386261" cy="3862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6910AC-DD2F-66FD-CECA-AC8AE2DD98A6}"/>
              </a:ext>
            </a:extLst>
          </p:cNvPr>
          <p:cNvSpPr txBox="1"/>
          <p:nvPr/>
        </p:nvSpPr>
        <p:spPr bwMode="auto">
          <a:xfrm>
            <a:off x="4060251" y="2089537"/>
            <a:ext cx="1566853" cy="102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US" sz="6000" b="1" dirty="0">
                <a:solidFill>
                  <a:srgbClr val="FFFFFF"/>
                </a:solidFill>
                <a:latin typeface="Montserrat" panose="00000500000000000000" pitchFamily="2" charset="0"/>
              </a:rPr>
              <a:t>22</a:t>
            </a:r>
            <a:r>
              <a:rPr lang="en-IN" sz="3000" kern="1200" dirty="0">
                <a:solidFill>
                  <a:srgbClr val="FFFFFF"/>
                </a:solidFill>
                <a:latin typeface="Montserrat" panose="00000500000000000000" pitchFamily="2" charset="0"/>
              </a:rPr>
              <a:t>°</a:t>
            </a:r>
            <a:r>
              <a:rPr lang="en-IN" sz="2100" kern="1200" dirty="0">
                <a:solidFill>
                  <a:srgbClr val="FFFFFF"/>
                </a:solidFill>
                <a:latin typeface="Montserrat" panose="00000500000000000000" pitchFamily="2" charset="0"/>
              </a:rPr>
              <a:t>C</a:t>
            </a:r>
            <a:endParaRPr lang="en-US" sz="405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DC224-B479-C2A2-3C76-DF4DC4803124}"/>
              </a:ext>
            </a:extLst>
          </p:cNvPr>
          <p:cNvSpPr txBox="1"/>
          <p:nvPr/>
        </p:nvSpPr>
        <p:spPr bwMode="auto">
          <a:xfrm>
            <a:off x="426848" y="677642"/>
            <a:ext cx="45720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Heating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pic>
        <p:nvPicPr>
          <p:cNvPr id="19" name="Picture 18" descr="A white line drawing of a leaf&#10;&#10;Description automatically generated">
            <a:extLst>
              <a:ext uri="{FF2B5EF4-FFF2-40B4-BE49-F238E27FC236}">
                <a16:creationId xmlns:a16="http://schemas.microsoft.com/office/drawing/2014/main" id="{8069FC76-5D75-6E52-4714-0A109EA6B4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219" y="3935183"/>
            <a:ext cx="310753" cy="310753"/>
          </a:xfrm>
          <a:prstGeom prst="rect">
            <a:avLst/>
          </a:prstGeom>
        </p:spPr>
      </p:pic>
      <p:pic>
        <p:nvPicPr>
          <p:cNvPr id="22" name="Picture 21" descr="A wifi symbol on a black background&#10;&#10;Description automatically generated">
            <a:extLst>
              <a:ext uri="{FF2B5EF4-FFF2-40B4-BE49-F238E27FC236}">
                <a16:creationId xmlns:a16="http://schemas.microsoft.com/office/drawing/2014/main" id="{646C879D-6AC6-5D7A-2092-24FA37CA9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38" y="3891964"/>
            <a:ext cx="361847" cy="361847"/>
          </a:xfrm>
          <a:prstGeom prst="rect">
            <a:avLst/>
          </a:prstGeom>
        </p:spPr>
      </p:pic>
      <p:pic>
        <p:nvPicPr>
          <p:cNvPr id="24" name="Picture 23" descr="A white line drawing of gears&#10;&#10;Description automatically generated">
            <a:extLst>
              <a:ext uri="{FF2B5EF4-FFF2-40B4-BE49-F238E27FC236}">
                <a16:creationId xmlns:a16="http://schemas.microsoft.com/office/drawing/2014/main" id="{F69BA942-6326-CF81-5072-DE9CEC8314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74" y="3902021"/>
            <a:ext cx="348820" cy="348820"/>
          </a:xfrm>
          <a:prstGeom prst="rect">
            <a:avLst/>
          </a:prstGeom>
        </p:spPr>
      </p:pic>
      <p:pic>
        <p:nvPicPr>
          <p:cNvPr id="33" name="Picture 32" descr="A sun and cloud with black background">
            <a:extLst>
              <a:ext uri="{FF2B5EF4-FFF2-40B4-BE49-F238E27FC236}">
                <a16:creationId xmlns:a16="http://schemas.microsoft.com/office/drawing/2014/main" id="{8E6E62AE-A275-3753-899F-D46C7522E6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106" y="1184789"/>
            <a:ext cx="386261" cy="40527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E67C06-4033-1795-A5D3-596A7C6C0FCE}"/>
              </a:ext>
            </a:extLst>
          </p:cNvPr>
          <p:cNvCxnSpPr>
            <a:cxnSpLocks/>
          </p:cNvCxnSpPr>
          <p:nvPr/>
        </p:nvCxnSpPr>
        <p:spPr>
          <a:xfrm>
            <a:off x="5801705" y="882614"/>
            <a:ext cx="503727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E2E62D-B208-AF88-7D63-08BE08B4B275}"/>
              </a:ext>
            </a:extLst>
          </p:cNvPr>
          <p:cNvCxnSpPr>
            <a:cxnSpLocks/>
          </p:cNvCxnSpPr>
          <p:nvPr/>
        </p:nvCxnSpPr>
        <p:spPr>
          <a:xfrm flipH="1">
            <a:off x="5279272" y="881515"/>
            <a:ext cx="531581" cy="445619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5921FBA-4D58-5E90-B85D-620EA12438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364" y="1047388"/>
            <a:ext cx="1348105" cy="134902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9286CB0-59C1-9F3A-D84D-F86E4C27D179}"/>
              </a:ext>
            </a:extLst>
          </p:cNvPr>
          <p:cNvSpPr txBox="1"/>
          <p:nvPr/>
        </p:nvSpPr>
        <p:spPr bwMode="auto">
          <a:xfrm>
            <a:off x="4606344" y="1162892"/>
            <a:ext cx="1112489" cy="204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1200" dirty="0">
                <a:solidFill>
                  <a:srgbClr val="FFFFFF"/>
                </a:solidFill>
                <a:latin typeface="Montserrat" panose="00000500000000000000" pitchFamily="2" charset="0"/>
              </a:rPr>
              <a:t>Nuremberg</a:t>
            </a:r>
            <a:endParaRPr lang="en-US" sz="120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E5D89B6-63BC-D0C2-49FE-513F5AD63E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038528" y="3933480"/>
            <a:ext cx="313314" cy="31331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BF952EB-1E3A-1DC7-592D-6616C8AA20F2}"/>
              </a:ext>
            </a:extLst>
          </p:cNvPr>
          <p:cNvSpPr txBox="1"/>
          <p:nvPr/>
        </p:nvSpPr>
        <p:spPr bwMode="auto">
          <a:xfrm>
            <a:off x="6541423" y="1284895"/>
            <a:ext cx="2037776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Placeholder space for weather/ AQI info (updates when connected to internet)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007576-845B-5F89-376E-0110A1AD20AB}"/>
              </a:ext>
            </a:extLst>
          </p:cNvPr>
          <p:cNvCxnSpPr>
            <a:cxnSpLocks/>
          </p:cNvCxnSpPr>
          <p:nvPr/>
        </p:nvCxnSpPr>
        <p:spPr>
          <a:xfrm>
            <a:off x="6058992" y="1561895"/>
            <a:ext cx="422041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CFB76A8-0972-06E0-DD3F-C6F70AF94F73}"/>
              </a:ext>
            </a:extLst>
          </p:cNvPr>
          <p:cNvSpPr txBox="1"/>
          <p:nvPr/>
        </p:nvSpPr>
        <p:spPr bwMode="auto">
          <a:xfrm>
            <a:off x="6378141" y="2096556"/>
            <a:ext cx="19936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 Temperature set point value and animation (heating or cooling)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0922163-0E9F-228A-F0D8-3B5B544654B8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6098577" y="2459149"/>
            <a:ext cx="279564" cy="6739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8D50029-77E3-6709-DB35-3CA582F11FAD}"/>
              </a:ext>
            </a:extLst>
          </p:cNvPr>
          <p:cNvSpPr txBox="1"/>
          <p:nvPr/>
        </p:nvSpPr>
        <p:spPr bwMode="auto">
          <a:xfrm>
            <a:off x="705082" y="3421597"/>
            <a:ext cx="185026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Multi-function status bar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DD5140F-1481-DFB1-D485-2C9D8C16441B}"/>
              </a:ext>
            </a:extLst>
          </p:cNvPr>
          <p:cNvCxnSpPr>
            <a:cxnSpLocks/>
          </p:cNvCxnSpPr>
          <p:nvPr/>
        </p:nvCxnSpPr>
        <p:spPr>
          <a:xfrm flipH="1">
            <a:off x="2537805" y="3548555"/>
            <a:ext cx="571155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42335C-8BA1-AA0A-58D7-400DCDFEAD36}"/>
              </a:ext>
            </a:extLst>
          </p:cNvPr>
          <p:cNvCxnSpPr>
            <a:cxnSpLocks/>
          </p:cNvCxnSpPr>
          <p:nvPr/>
        </p:nvCxnSpPr>
        <p:spPr>
          <a:xfrm flipH="1">
            <a:off x="2544870" y="4054671"/>
            <a:ext cx="615980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ADAB6FD-BAEF-75E1-DD47-FD3C2293540F}"/>
              </a:ext>
            </a:extLst>
          </p:cNvPr>
          <p:cNvSpPr txBox="1"/>
          <p:nvPr/>
        </p:nvSpPr>
        <p:spPr bwMode="auto">
          <a:xfrm>
            <a:off x="1047117" y="3871894"/>
            <a:ext cx="158670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Settings / personalization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68311B3E-AC05-3F62-6323-3CE0DCD3ACEE}"/>
              </a:ext>
            </a:extLst>
          </p:cNvPr>
          <p:cNvSpPr txBox="1"/>
          <p:nvPr/>
        </p:nvSpPr>
        <p:spPr bwMode="auto">
          <a:xfrm>
            <a:off x="6333667" y="667167"/>
            <a:ext cx="158670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Background / 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color gradient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D2C5345B-D86C-9197-FAAD-224CECE0A085}"/>
              </a:ext>
            </a:extLst>
          </p:cNvPr>
          <p:cNvCxnSpPr>
            <a:cxnSpLocks/>
          </p:cNvCxnSpPr>
          <p:nvPr/>
        </p:nvCxnSpPr>
        <p:spPr>
          <a:xfrm>
            <a:off x="5801705" y="882614"/>
            <a:ext cx="503727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A9DB4332-85DD-ECF0-F198-C326D7B98E3B}"/>
              </a:ext>
            </a:extLst>
          </p:cNvPr>
          <p:cNvCxnSpPr>
            <a:cxnSpLocks/>
          </p:cNvCxnSpPr>
          <p:nvPr/>
        </p:nvCxnSpPr>
        <p:spPr>
          <a:xfrm flipH="1">
            <a:off x="5279272" y="881515"/>
            <a:ext cx="531581" cy="445619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Isosceles Triangle 1033">
            <a:extLst>
              <a:ext uri="{FF2B5EF4-FFF2-40B4-BE49-F238E27FC236}">
                <a16:creationId xmlns:a16="http://schemas.microsoft.com/office/drawing/2014/main" id="{5E9FE773-0881-CDD1-8D2C-422331C19F79}"/>
              </a:ext>
            </a:extLst>
          </p:cNvPr>
          <p:cNvSpPr/>
          <p:nvPr/>
        </p:nvSpPr>
        <p:spPr bwMode="auto">
          <a:xfrm>
            <a:off x="5786833" y="2470381"/>
            <a:ext cx="243281" cy="144345"/>
          </a:xfrm>
          <a:prstGeom prst="triangle">
            <a:avLst/>
          </a:prstGeom>
          <a:solidFill>
            <a:srgbClr val="FB4747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200" kern="1200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77A0EED2-0FAA-FF6C-8806-8F81424BDCE8}"/>
              </a:ext>
            </a:extLst>
          </p:cNvPr>
          <p:cNvSpPr/>
          <p:nvPr/>
        </p:nvSpPr>
        <p:spPr bwMode="auto">
          <a:xfrm>
            <a:off x="5809633" y="2642872"/>
            <a:ext cx="197679" cy="117288"/>
          </a:xfrm>
          <a:prstGeom prst="triangle">
            <a:avLst/>
          </a:prstGeom>
          <a:solidFill>
            <a:srgbClr val="FF3F3F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200" kern="1200" dirty="0">
              <a:solidFill>
                <a:srgbClr val="FF3300"/>
              </a:solidFill>
              <a:ea typeface="+mn-ea"/>
            </a:endParaRPr>
          </a:p>
        </p:txBody>
      </p:sp>
      <p:sp>
        <p:nvSpPr>
          <p:cNvPr id="1036" name="Isosceles Triangle 1035">
            <a:extLst>
              <a:ext uri="{FF2B5EF4-FFF2-40B4-BE49-F238E27FC236}">
                <a16:creationId xmlns:a16="http://schemas.microsoft.com/office/drawing/2014/main" id="{E3E769B5-9CB8-1743-B1CF-B999D10C9459}"/>
              </a:ext>
            </a:extLst>
          </p:cNvPr>
          <p:cNvSpPr/>
          <p:nvPr/>
        </p:nvSpPr>
        <p:spPr bwMode="auto">
          <a:xfrm>
            <a:off x="5830983" y="2784806"/>
            <a:ext cx="154979" cy="91953"/>
          </a:xfrm>
          <a:prstGeom prst="triangle">
            <a:avLst/>
          </a:prstGeom>
          <a:solidFill>
            <a:srgbClr val="FF5050"/>
          </a:solidFill>
          <a:ln w="9525">
            <a:noFill/>
            <a:miter lim="800000"/>
            <a:headEnd/>
            <a:tailEnd/>
          </a:ln>
        </p:spPr>
        <p:txBody>
          <a:bodyPr wrap="square" lIns="54000" tIns="54000" rIns="54000" bIns="54000" rtlCol="0" anchor="ctr"/>
          <a:lstStyle/>
          <a:p>
            <a:pPr algn="ctr" defTabSz="43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200" kern="1200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A06A41E9-DA02-AAC2-3385-CD226893CA23}"/>
              </a:ext>
            </a:extLst>
          </p:cNvPr>
          <p:cNvSpPr txBox="1"/>
          <p:nvPr/>
        </p:nvSpPr>
        <p:spPr bwMode="auto">
          <a:xfrm>
            <a:off x="5642681" y="2218763"/>
            <a:ext cx="53158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dirty="0">
                <a:solidFill>
                  <a:srgbClr val="FF3737"/>
                </a:solidFill>
                <a:latin typeface="Montserrat" panose="00000500000000000000" pitchFamily="2" charset="0"/>
              </a:rPr>
              <a:t>24</a:t>
            </a:r>
            <a:r>
              <a:rPr lang="en-US" sz="750" b="1" dirty="0">
                <a:solidFill>
                  <a:srgbClr val="FF3737"/>
                </a:solidFill>
                <a:latin typeface="Montserrat" panose="00000500000000000000" pitchFamily="2" charset="0"/>
              </a:rPr>
              <a:t>°C</a:t>
            </a:r>
            <a:endParaRPr lang="en-US" sz="750" kern="1200" dirty="0">
              <a:solidFill>
                <a:srgbClr val="FF3737"/>
              </a:solidFill>
              <a:latin typeface="Arial" charset="0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F8358980-F68F-0C63-E66F-F518AB799E61}"/>
              </a:ext>
            </a:extLst>
          </p:cNvPr>
          <p:cNvSpPr txBox="1"/>
          <p:nvPr/>
        </p:nvSpPr>
        <p:spPr bwMode="auto">
          <a:xfrm>
            <a:off x="5570901" y="2045917"/>
            <a:ext cx="7134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b="1" dirty="0">
                <a:solidFill>
                  <a:srgbClr val="FFFFFF">
                    <a:lumMod val="85000"/>
                  </a:srgbClr>
                </a:solidFill>
                <a:latin typeface="Montserrat" panose="00000500000000000000" pitchFamily="2" charset="0"/>
              </a:rPr>
              <a:t>Set to</a:t>
            </a:r>
            <a:endParaRPr lang="en-US" sz="1050" b="1" kern="1200" dirty="0">
              <a:solidFill>
                <a:srgbClr val="FFFFFF">
                  <a:lumMod val="85000"/>
                </a:srgbClr>
              </a:solidFill>
              <a:latin typeface="Arial" charset="0"/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BD7F5AED-2465-46D0-0EFA-94FD2A4A8B8C}"/>
              </a:ext>
            </a:extLst>
          </p:cNvPr>
          <p:cNvSpPr txBox="1"/>
          <p:nvPr/>
        </p:nvSpPr>
        <p:spPr bwMode="auto">
          <a:xfrm>
            <a:off x="149119" y="2406200"/>
            <a:ext cx="144346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0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Older “EW” version</a:t>
            </a:r>
            <a:endParaRPr lang="en-US" sz="1000" kern="1200" dirty="0">
              <a:solidFill>
                <a:srgbClr val="1D1D1D"/>
              </a:solidFill>
              <a:latin typeface="Arial" charset="0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DF3AA30-B7F8-74E1-1A62-601ED53B426C}"/>
              </a:ext>
            </a:extLst>
          </p:cNvPr>
          <p:cNvSpPr txBox="1"/>
          <p:nvPr/>
        </p:nvSpPr>
        <p:spPr bwMode="auto">
          <a:xfrm>
            <a:off x="3540358" y="3362372"/>
            <a:ext cx="2057203" cy="429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1500" b="1" dirty="0">
                <a:solidFill>
                  <a:srgbClr val="FFFFFF"/>
                </a:solidFill>
                <a:latin typeface="Montserrat" panose="00000500000000000000" pitchFamily="2" charset="0"/>
              </a:rPr>
              <a:t>… Heating …</a:t>
            </a:r>
          </a:p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900" b="1" dirty="0">
                <a:solidFill>
                  <a:srgbClr val="FFFFFF"/>
                </a:solidFill>
                <a:latin typeface="Montserrat" panose="00000500000000000000" pitchFamily="2" charset="0"/>
              </a:rPr>
              <a:t>20 minutes until heated to 24°C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489FB0DA-D2CE-2F53-E27D-0A94F92FF731}"/>
              </a:ext>
            </a:extLst>
          </p:cNvPr>
          <p:cNvSpPr txBox="1"/>
          <p:nvPr/>
        </p:nvSpPr>
        <p:spPr bwMode="auto">
          <a:xfrm>
            <a:off x="2980794" y="4246538"/>
            <a:ext cx="656785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800" b="1" cap="all" dirty="0">
                <a:solidFill>
                  <a:srgbClr val="FFFFFF"/>
                </a:solidFill>
                <a:latin typeface="Montserrat" panose="00000500000000000000" pitchFamily="2" charset="0"/>
              </a:rPr>
              <a:t>SETTINGS</a:t>
            </a:r>
            <a:endParaRPr lang="en-US" sz="800" b="1" cap="all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8E9B5BF4-B7A7-5B44-CF59-842E48858A97}"/>
              </a:ext>
            </a:extLst>
          </p:cNvPr>
          <p:cNvSpPr txBox="1"/>
          <p:nvPr/>
        </p:nvSpPr>
        <p:spPr bwMode="auto">
          <a:xfrm>
            <a:off x="6691129" y="3846922"/>
            <a:ext cx="158670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  <a:hlinkClick r:id="" action="ppaction://noaction"/>
              </a:rPr>
              <a:t>Wi-Fi/cloud status and settings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2FC525EE-08D7-625E-7D7F-260C2EEBEF60}"/>
              </a:ext>
            </a:extLst>
          </p:cNvPr>
          <p:cNvCxnSpPr>
            <a:cxnSpLocks/>
          </p:cNvCxnSpPr>
          <p:nvPr/>
        </p:nvCxnSpPr>
        <p:spPr>
          <a:xfrm>
            <a:off x="6028126" y="4012187"/>
            <a:ext cx="650108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TextBox 1056">
            <a:extLst>
              <a:ext uri="{FF2B5EF4-FFF2-40B4-BE49-F238E27FC236}">
                <a16:creationId xmlns:a16="http://schemas.microsoft.com/office/drawing/2014/main" id="{EF26CE43-0B61-9B54-F2C0-B8401EDD0A27}"/>
              </a:ext>
            </a:extLst>
          </p:cNvPr>
          <p:cNvSpPr txBox="1"/>
          <p:nvPr/>
        </p:nvSpPr>
        <p:spPr bwMode="auto">
          <a:xfrm>
            <a:off x="1085717" y="2864097"/>
            <a:ext cx="199360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Current temperature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51E42D24-7BFD-20AD-814C-C293D292D198}"/>
              </a:ext>
            </a:extLst>
          </p:cNvPr>
          <p:cNvCxnSpPr>
            <a:cxnSpLocks/>
          </p:cNvCxnSpPr>
          <p:nvPr/>
        </p:nvCxnSpPr>
        <p:spPr>
          <a:xfrm flipH="1" flipV="1">
            <a:off x="2706632" y="2976331"/>
            <a:ext cx="1408168" cy="12458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4470F7-F779-D90A-A006-00D234D7A652}"/>
              </a:ext>
            </a:extLst>
          </p:cNvPr>
          <p:cNvSpPr txBox="1"/>
          <p:nvPr/>
        </p:nvSpPr>
        <p:spPr bwMode="auto">
          <a:xfrm>
            <a:off x="3649712" y="4241989"/>
            <a:ext cx="656785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800" b="1" cap="all" dirty="0">
                <a:solidFill>
                  <a:srgbClr val="FFFFFF"/>
                </a:solidFill>
                <a:latin typeface="Montserrat" panose="00000500000000000000" pitchFamily="2" charset="0"/>
              </a:rPr>
              <a:t>PRESENCE</a:t>
            </a:r>
            <a:endParaRPr lang="en-US" sz="800" b="1" cap="all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2D2E5-9539-73DC-F767-6D00B3C79A52}"/>
              </a:ext>
            </a:extLst>
          </p:cNvPr>
          <p:cNvSpPr txBox="1"/>
          <p:nvPr/>
        </p:nvSpPr>
        <p:spPr bwMode="auto">
          <a:xfrm>
            <a:off x="4245841" y="4241989"/>
            <a:ext cx="656785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800" b="1" cap="all" dirty="0">
                <a:solidFill>
                  <a:srgbClr val="FFFFFF"/>
                </a:solidFill>
                <a:latin typeface="Montserrat" panose="00000500000000000000" pitchFamily="2" charset="0"/>
              </a:rPr>
              <a:t>MODE</a:t>
            </a:r>
            <a:endParaRPr lang="en-US" sz="800" b="1" cap="all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4DF97-1789-5E71-152F-3CD337EDC379}"/>
              </a:ext>
            </a:extLst>
          </p:cNvPr>
          <p:cNvSpPr txBox="1"/>
          <p:nvPr/>
        </p:nvSpPr>
        <p:spPr bwMode="auto">
          <a:xfrm>
            <a:off x="4841970" y="4241989"/>
            <a:ext cx="743757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800" b="1" cap="all" dirty="0">
                <a:solidFill>
                  <a:srgbClr val="FFFFFF"/>
                </a:solidFill>
                <a:latin typeface="Montserrat" panose="00000500000000000000" pitchFamily="2" charset="0"/>
              </a:rPr>
              <a:t>COMMAND</a:t>
            </a:r>
            <a:endParaRPr lang="en-US" sz="800" b="1" cap="all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8199D-E7A6-2CB3-4FBA-8467A93FC70F}"/>
              </a:ext>
            </a:extLst>
          </p:cNvPr>
          <p:cNvSpPr txBox="1"/>
          <p:nvPr/>
        </p:nvSpPr>
        <p:spPr bwMode="auto">
          <a:xfrm>
            <a:off x="5515974" y="4241989"/>
            <a:ext cx="743757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800" b="1" cap="all" dirty="0">
                <a:solidFill>
                  <a:srgbClr val="FFFFFF"/>
                </a:solidFill>
                <a:latin typeface="Montserrat" panose="00000500000000000000" pitchFamily="2" charset="0"/>
              </a:rPr>
              <a:t>CONNECT</a:t>
            </a:r>
            <a:endParaRPr lang="en-US" sz="800" b="1" cap="all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Graphic 15" descr="Man outline">
            <a:extLst>
              <a:ext uri="{FF2B5EF4-FFF2-40B4-BE49-F238E27FC236}">
                <a16:creationId xmlns:a16="http://schemas.microsoft.com/office/drawing/2014/main" id="{AF8A6BB9-2410-C02C-9CCD-1AA34FCC25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05184" y="3888062"/>
            <a:ext cx="348958" cy="348958"/>
          </a:xfrm>
          <a:prstGeom prst="rect">
            <a:avLst/>
          </a:prstGeom>
        </p:spPr>
      </p:pic>
      <p:sp>
        <p:nvSpPr>
          <p:cNvPr id="18" name="Double Bracket 17">
            <a:extLst>
              <a:ext uri="{FF2B5EF4-FFF2-40B4-BE49-F238E27FC236}">
                <a16:creationId xmlns:a16="http://schemas.microsoft.com/office/drawing/2014/main" id="{B5B5C988-8716-3C9B-55D0-C8044D4DEDCF}"/>
              </a:ext>
            </a:extLst>
          </p:cNvPr>
          <p:cNvSpPr/>
          <p:nvPr/>
        </p:nvSpPr>
        <p:spPr>
          <a:xfrm>
            <a:off x="3832628" y="3923508"/>
            <a:ext cx="298170" cy="302658"/>
          </a:xfrm>
          <a:prstGeom prst="bracketPair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CF811-E97E-5F54-92A9-2161813E2538}"/>
              </a:ext>
            </a:extLst>
          </p:cNvPr>
          <p:cNvSpPr txBox="1"/>
          <p:nvPr/>
        </p:nvSpPr>
        <p:spPr bwMode="auto">
          <a:xfrm>
            <a:off x="5494602" y="3441129"/>
            <a:ext cx="743757" cy="13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algn="ctr" defTabSz="432000" eaLnBrk="0" hangingPunct="0">
              <a:lnSpc>
                <a:spcPct val="120000"/>
              </a:lnSpc>
              <a:buClr>
                <a:srgbClr val="0A8276"/>
              </a:buClr>
            </a:pPr>
            <a:r>
              <a:rPr lang="en-IN" sz="800" b="1" cap="all" dirty="0">
                <a:solidFill>
                  <a:srgbClr val="FFFFFF"/>
                </a:solidFill>
                <a:latin typeface="Montserrat" panose="00000500000000000000" pitchFamily="2" charset="0"/>
              </a:rPr>
              <a:t>LOW</a:t>
            </a:r>
            <a:endParaRPr lang="en-US" sz="800" b="1" cap="all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52D4E-3A61-0989-A07F-13923D88764C}"/>
              </a:ext>
            </a:extLst>
          </p:cNvPr>
          <p:cNvSpPr txBox="1"/>
          <p:nvPr/>
        </p:nvSpPr>
        <p:spPr bwMode="auto">
          <a:xfrm>
            <a:off x="1377564" y="4493095"/>
            <a:ext cx="247394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/>
              </a:rPr>
              <a:t>Presence detection enable/disable, detection status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98B7EB-3DBA-7E37-2AA1-01A86E4AECC8}"/>
              </a:ext>
            </a:extLst>
          </p:cNvPr>
          <p:cNvSpPr txBox="1"/>
          <p:nvPr/>
        </p:nvSpPr>
        <p:spPr bwMode="auto">
          <a:xfrm>
            <a:off x="5309542" y="4518684"/>
            <a:ext cx="308062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/>
              </a:rPr>
              <a:t>Voice input enable/disable, keyword detection status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6ED7B6-E75C-641C-D6CF-3563DB521845}"/>
              </a:ext>
            </a:extLst>
          </p:cNvPr>
          <p:cNvCxnSpPr>
            <a:cxnSpLocks/>
          </p:cNvCxnSpPr>
          <p:nvPr/>
        </p:nvCxnSpPr>
        <p:spPr>
          <a:xfrm>
            <a:off x="5351842" y="4392112"/>
            <a:ext cx="219059" cy="174561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3C60F7A-22DF-FE13-6619-48CD96104C22}"/>
              </a:ext>
            </a:extLst>
          </p:cNvPr>
          <p:cNvSpPr txBox="1"/>
          <p:nvPr/>
        </p:nvSpPr>
        <p:spPr bwMode="auto">
          <a:xfrm>
            <a:off x="3665010" y="4516541"/>
            <a:ext cx="158670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  <a:hlinkClick r:id="" action="ppaction://noaction"/>
              </a:rPr>
              <a:t>Mode (eco, rapid, auto)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335883-06C2-D109-E087-FFB23E398F62}"/>
              </a:ext>
            </a:extLst>
          </p:cNvPr>
          <p:cNvCxnSpPr>
            <a:cxnSpLocks/>
          </p:cNvCxnSpPr>
          <p:nvPr/>
        </p:nvCxnSpPr>
        <p:spPr>
          <a:xfrm flipH="1">
            <a:off x="3744685" y="4392112"/>
            <a:ext cx="165541" cy="161751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843C0F-2F6A-FF71-B547-15E2B8913E3A}"/>
              </a:ext>
            </a:extLst>
          </p:cNvPr>
          <p:cNvCxnSpPr>
            <a:cxnSpLocks/>
          </p:cNvCxnSpPr>
          <p:nvPr/>
        </p:nvCxnSpPr>
        <p:spPr>
          <a:xfrm>
            <a:off x="4571481" y="4428271"/>
            <a:ext cx="519" cy="138402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1E6449-3053-EBDD-4BCF-F2CC20504196}"/>
              </a:ext>
            </a:extLst>
          </p:cNvPr>
          <p:cNvSpPr txBox="1"/>
          <p:nvPr/>
        </p:nvSpPr>
        <p:spPr bwMode="auto">
          <a:xfrm>
            <a:off x="1523313" y="30657"/>
            <a:ext cx="6278763" cy="2539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View in </a:t>
            </a:r>
            <a:r>
              <a:rPr lang="en-US" sz="1050" kern="1200" dirty="0" err="1">
                <a:solidFill>
                  <a:srgbClr val="1D1D1D"/>
                </a:solidFill>
                <a:latin typeface="Montserrat" panose="00000500000000000000" pitchFamily="2" charset="0"/>
              </a:rPr>
              <a:t>Powerpoint</a:t>
            </a: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</a:rPr>
              <a:t> (not in browser) or download to visualize UI mockup accurately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C23CCEC-36ED-AC14-EEF0-BF3741E09296}"/>
              </a:ext>
            </a:extLst>
          </p:cNvPr>
          <p:cNvCxnSpPr>
            <a:cxnSpLocks/>
          </p:cNvCxnSpPr>
          <p:nvPr/>
        </p:nvCxnSpPr>
        <p:spPr>
          <a:xfrm>
            <a:off x="6253097" y="3270789"/>
            <a:ext cx="278916" cy="0"/>
          </a:xfrm>
          <a:prstGeom prst="straightConnector1">
            <a:avLst/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9998BB-2317-346E-B44C-75D20E684C5E}"/>
              </a:ext>
            </a:extLst>
          </p:cNvPr>
          <p:cNvSpPr txBox="1"/>
          <p:nvPr/>
        </p:nvSpPr>
        <p:spPr bwMode="auto">
          <a:xfrm>
            <a:off x="6541423" y="3108373"/>
            <a:ext cx="220391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050" kern="1200" dirty="0">
                <a:solidFill>
                  <a:srgbClr val="1D1D1D"/>
                </a:solidFill>
                <a:latin typeface="Montserrat" panose="00000500000000000000" pitchFamily="2" charset="0"/>
                <a:hlinkClick r:id="" action="ppaction://noaction"/>
              </a:rPr>
              <a:t>Tap to change fan speed/mode (animated icon)</a:t>
            </a:r>
            <a:endParaRPr lang="en-US" sz="1050" kern="1200" dirty="0">
              <a:solidFill>
                <a:srgbClr val="1D1D1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2916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20"/>
  <p:tag name="MIO_FALLBACK_LAYOUT" val="6"/>
  <p:tag name="MIO_VERSION" val="21.10.2024 09:35:17"/>
  <p:tag name="MIO_LASTDOWNLOADED" val="22.10.2024 16:10:15.190"/>
  <p:tag name="MIO_CONTENTTAG" val="31FNeEH/6Eu/4ztoiyaJsw=="/>
  <p:tag name="MIO_CDID" val="e2fc2f9e-d5cf-4311-b3a1-0559b8fd1ab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0F60605F-FE9C-42EE-8FB7-5E801DC10479}" vid="{0EFFD798-B482-485A-AA29-B070A5B3DD37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935da7b-2887-4309-9f87-e2d2f1face2d">
      <UserInfo>
        <DisplayName>Gary.Sugita@infineon.com</DisplayName>
        <AccountId>28</AccountId>
        <AccountType/>
      </UserInfo>
      <UserInfo>
        <DisplayName>sathishkumar.mani@infineon.com</DisplayName>
        <AccountId>22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AB49A64C458341A5ACE9D999E122D0" ma:contentTypeVersion="1" ma:contentTypeDescription="Create a new document." ma:contentTypeScope="" ma:versionID="603576765f6d0d553e9fe09050ab0684">
  <xsd:schema xmlns:xsd="http://www.w3.org/2001/XMLSchema" xmlns:xs="http://www.w3.org/2001/XMLSchema" xmlns:p="http://schemas.microsoft.com/office/2006/metadata/properties" xmlns:ns2="2935da7b-2887-4309-9f87-e2d2f1face2d" targetNamespace="http://schemas.microsoft.com/office/2006/metadata/properties" ma:root="true" ma:fieldsID="2e50b3088f5d49ffc31ff11709bb7e41" ns2:_="">
    <xsd:import namespace="2935da7b-2887-4309-9f87-e2d2f1face2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5da7b-2887-4309-9f87-e2d2f1face2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5F756E-BA2D-4907-BCB4-FE53490BAE44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2935da7b-2887-4309-9f87-e2d2f1face2d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3735CEE-0640-4107-B0A2-D7FEDABFFA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DA950C-28EF-4C16-B45F-9BFF23C6AE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35da7b-2887-4309-9f87-e2d2f1face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14566</TotalTime>
  <Words>281</Words>
  <Application>Microsoft Office PowerPoint</Application>
  <PresentationFormat>On-screen Show (16:9)</PresentationFormat>
  <Paragraphs>92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Montserrat</vt:lpstr>
      <vt:lpstr>Roboto</vt:lpstr>
      <vt:lpstr>Source Sans 3</vt:lpstr>
      <vt:lpstr>Simple Light</vt:lpstr>
      <vt:lpstr>Infineon 16:9</vt:lpstr>
      <vt:lpstr>PSOC Edge  Smart HMI kit  UI mockups</vt:lpstr>
      <vt:lpstr>Temp control arc design merged into background image</vt:lpstr>
      <vt:lpstr>Background image </vt:lpstr>
      <vt:lpstr>(temp / design draft) </vt:lpstr>
      <vt:lpstr>(temp / design draft) – tutorial idea (TODO </vt:lpstr>
      <vt:lpstr>Active screen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Thermostat UI</dc:title>
  <dc:creator>Krishnan Arvind (CSS ICW AM SOL ME)</dc:creator>
  <cp:lastModifiedBy>Arvind Krishnan</cp:lastModifiedBy>
  <cp:revision>51</cp:revision>
  <dcterms:modified xsi:type="dcterms:W3CDTF">2025-12-07T17:27:54Z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0x010100D8AB49A64C458341A5ACE9D999E122D0</vt:lpwstr>
  </property>
  <property fmtid="{D5CDD505-2E9C-101B-9397-08002B2CF9AE}" pid="3" name="MSIP_Label_a15a25aa-e944-415d-b7a7-40f6b9180b6b_Enabled">
    <vt:lpwstr>-1</vt:lpwstr>
  </property>
  <property fmtid="{D5CDD505-2E9C-101B-9397-08002B2CF9AE}" pid="4" name="MSIP_Label_a15a25aa-e944-415d-b7a7-40f6b9180b6b_SetDate">
    <vt:lpwstr>2025-12-06 12:52:37Z</vt:lpwstr>
  </property>
  <property fmtid="{D5CDD505-2E9C-101B-9397-08002B2CF9AE}" pid="5" name="MSIP_Label_a15a25aa-e944-415d-b7a7-40f6b9180b6b_Method">
    <vt:lpwstr>Privileged</vt:lpwstr>
  </property>
  <property fmtid="{D5CDD505-2E9C-101B-9397-08002B2CF9AE}" pid="6" name="MSIP_Label_a15a25aa-e944-415d-b7a7-40f6b9180b6b_Name">
    <vt:lpwstr>a15a25aa-e944-415d-b7a7-40f6b9180b6b</vt:lpwstr>
  </property>
  <property fmtid="{D5CDD505-2E9C-101B-9397-08002B2CF9AE}" pid="7" name="MSIP_Label_a15a25aa-e944-415d-b7a7-40f6b9180b6b_SiteId">
    <vt:lpwstr>eeb8d0e8-3544-41d3-aac6-934c309faf5a</vt:lpwstr>
  </property>
  <property fmtid="{D5CDD505-2E9C-101B-9397-08002B2CF9AE}" pid="8" name="MSIP_Label_a15a25aa-e944-415d-b7a7-40f6b9180b6b_ActionId">
    <vt:lpwstr>dbc90a3e-6422-4d7b-b6c2-3abce38dc068</vt:lpwstr>
  </property>
  <property fmtid="{D5CDD505-2E9C-101B-9397-08002B2CF9AE}" pid="9" name="MSIP_Label_a15a25aa-e944-415d-b7a7-40f6b9180b6b_ContentBits">
    <vt:lpwstr>0</vt:lpwstr>
  </property>
  <property fmtid="{D5CDD505-2E9C-101B-9397-08002B2CF9AE}" pid="10" name="empower.integration.Classification.DocumentId">
    <vt:lpwstr/>
  </property>
  <property fmtid="{D5CDD505-2E9C-101B-9397-08002B2CF9AE}" pid="11" name="empower.integration.Classification.DocumentVersion">
    <vt:lpwstr/>
  </property>
  <property fmtid="{D5CDD505-2E9C-101B-9397-08002B2CF9AE}" pid="12" name="empower.integration.Classification.DocumentOwner">
    <vt:lpwstr/>
  </property>
  <property fmtid="{D5CDD505-2E9C-101B-9397-08002B2CF9AE}" pid="13" name="empower.integration.Classification.ShowFooter">
    <vt:bool>true</vt:bool>
  </property>
  <property fmtid="{D5CDD505-2E9C-101B-9397-08002B2CF9AE}" pid="14" name="empower.integration.Classification.RestrictionLevel">
    <vt:i4>1</vt:i4>
  </property>
  <property fmtid="{D5CDD505-2E9C-101B-9397-08002B2CF9AE}" pid="15" name="empower.integration.Classification.FooterDate">
    <vt:filetime>2025-12-06T12:52:36Z</vt:filetime>
  </property>
  <property fmtid="{D5CDD505-2E9C-101B-9397-08002B2CF9AE}" pid="16" name="empower.integration.Classification.DateFormat">
    <vt:lpwstr/>
  </property>
  <property fmtid="{D5CDD505-2E9C-101B-9397-08002B2CF9AE}" pid="17" name="empower.integration.Classification.IsDraft">
    <vt:bool>false</vt:bool>
  </property>
  <property fmtid="{D5CDD505-2E9C-101B-9397-08002B2CF9AE}" pid="18" name="empower.integration.Classification.IsProprietary">
    <vt:bool>false</vt:bool>
  </property>
  <property fmtid="{D5CDD505-2E9C-101B-9397-08002B2CF9AE}" pid="19" name="empower.integration.Classification.HasAdditionalMarking">
    <vt:bool>false</vt:bool>
  </property>
  <property fmtid="{D5CDD505-2E9C-101B-9397-08002B2CF9AE}" pid="20" name="empower.integration.Classification.AdditionalMarking">
    <vt:lpwstr/>
  </property>
  <property fmtid="{D5CDD505-2E9C-101B-9397-08002B2CF9AE}" pid="21" name="empower.integration.Classification.IsEmpowerClassified">
    <vt:bool>false</vt:bool>
  </property>
</Properties>
</file>